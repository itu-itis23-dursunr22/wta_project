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32"/>
  </p:notesMasterIdLst>
  <p:handoutMasterIdLst>
    <p:handoutMasterId r:id="rId33"/>
  </p:handoutMasterIdLst>
  <p:sldIdLst>
    <p:sldId id="256" r:id="rId3"/>
    <p:sldId id="300" r:id="rId4"/>
    <p:sldId id="257" r:id="rId5"/>
    <p:sldId id="258" r:id="rId6"/>
    <p:sldId id="272" r:id="rId7"/>
    <p:sldId id="259" r:id="rId8"/>
    <p:sldId id="260" r:id="rId9"/>
    <p:sldId id="273" r:id="rId10"/>
    <p:sldId id="266" r:id="rId11"/>
    <p:sldId id="288" r:id="rId12"/>
    <p:sldId id="291" r:id="rId13"/>
    <p:sldId id="292" r:id="rId14"/>
    <p:sldId id="285" r:id="rId15"/>
    <p:sldId id="281" r:id="rId16"/>
    <p:sldId id="280" r:id="rId17"/>
    <p:sldId id="278" r:id="rId18"/>
    <p:sldId id="277" r:id="rId19"/>
    <p:sldId id="275" r:id="rId20"/>
    <p:sldId id="261" r:id="rId21"/>
    <p:sldId id="284" r:id="rId22"/>
    <p:sldId id="282" r:id="rId23"/>
    <p:sldId id="262" r:id="rId24"/>
    <p:sldId id="263" r:id="rId25"/>
    <p:sldId id="264" r:id="rId26"/>
    <p:sldId id="268" r:id="rId27"/>
    <p:sldId id="299" r:id="rId28"/>
    <p:sldId id="269" r:id="rId29"/>
    <p:sldId id="270" r:id="rId30"/>
    <p:sldId id="27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152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413F91-FB9D-475F-BA46-050756A4F07A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AEA3F-E71A-4753-9600-F3CD8D90C5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93297-0EDF-4E9D-ACE1-7439B158DF22}" type="datetimeFigureOut">
              <a:rPr lang="tr-TR" smtClean="0"/>
              <a:t>17.07.2026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EC6A2-A89D-4517-BF7F-4CB0DF296C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A79DA-52AE-4457-83C5-C995FCBCFB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3F639-139E-47CF-BA4C-43051DC905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783053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7C817-230A-46A4-AA58-F2E8FFD01BCE}" type="datetimeFigureOut">
              <a:rPr lang="tr-TR" smtClean="0"/>
              <a:t>17.07.2026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4BE8-36CB-413B-B4F2-C13999B812B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41932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510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395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6805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819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9871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1550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7489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738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7841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7258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5570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5513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5600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8081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2437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4386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5308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3105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2581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9067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343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8141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0689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1227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9213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5510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32819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61074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4BE8-36CB-413B-B4F2-C13999B812B9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929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52797-2FB9-47EA-ADFD-343A142065D0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4F266-ACBD-4E53-A7CC-8236D4D5C891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3EF1D-C8BD-4444-AC8C-9F025DAD831E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r>
              <a:rPr lang="en-US" dirty="0"/>
              <a:t> / 29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2EE-3DA2-4AA1-A1F4-9CA732E0B1B8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F9-C5D8-44F3-913B-6D802214DC73}" type="datetime1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 dirty="0"/>
              <a:t> / 29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9D92-67E1-471F-97B9-3DA8B28AA8C5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F1373-CC1A-47FA-BC65-F74D26E9A2A5}" type="datetime1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E7390-FF79-4B89-B673-093A89764E97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C279-667E-45AA-852D-82D4BE690CDF}" type="datetime1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51605-2499-4171-B1CD-F6E3DC159750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2E856-BA82-4E5C-AEFF-2867637F9345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r>
              <a:rPr lang="en-US"/>
              <a:t> / 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1CA0-63F6-4E4A-97E8-A2D55AABBD6E}" type="datetime1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01 / 16</a:t>
            </a:r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A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121408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END OF INTERNSHIP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Weapon-Target Assignment Model</a:t>
            </a:r>
          </a:p>
          <a:p>
            <a:pPr algn="l">
              <a:spcBef>
                <a:spcPts val="0"/>
              </a:spcBef>
              <a:spcAft>
                <a:spcPts val="1600"/>
              </a:spcAft>
              <a:defRPr sz="3800" b="1">
                <a:solidFill>
                  <a:srgbClr val="3B82F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Improvements 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Multi-Target Interception and Attack-Oriented WTA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Comparative Optimization with ABC, PSO, and Genetic Algorithm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7479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MISSILE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A78BFA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DECOY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B923C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ITERATIONS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754880"/>
            <a:ext cx="164592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4800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2D3EE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212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CONSTRAINT 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DF19B0-2AC1-4EDE-9FF5-4910A42446D1}"/>
              </a:ext>
            </a:extLst>
          </p:cNvPr>
          <p:cNvSpPr txBox="1"/>
          <p:nvPr/>
        </p:nvSpPr>
        <p:spPr>
          <a:xfrm>
            <a:off x="731520" y="1387369"/>
            <a:ext cx="677974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sz="13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Definition of </a:t>
            </a:r>
            <a:r>
              <a:rPr lang="tr-TR" sz="1300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tr-TR" sz="13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Problem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3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  <a:r>
              <a:rPr lang="tr-TR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it NP-Hard?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Critical Guidance Parameters in WTA Problem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sz="13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Approaches</a:t>
            </a:r>
            <a:r>
              <a:rPr lang="tr-TR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tr-TR" sz="13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tr-TR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Literature</a:t>
            </a:r>
            <a:endParaRPr lang="tr-TR" sz="130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 of the Attack Model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Future Works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 Approach Proposed by the Paper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Used Algorithms and Visualization of the Algorithms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Comparisions</a:t>
            </a: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the Results with Paper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Attack Model, Constraints and Parameters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 of the Attack Model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Summary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Future Works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tr-TR" sz="1300" dirty="0"/>
          </a:p>
        </p:txBody>
      </p:sp>
    </p:spTree>
    <p:extLst>
      <p:ext uri="{BB962C8B-B14F-4D97-AF65-F5344CB8AC3E}">
        <p14:creationId xmlns:p14="http://schemas.microsoft.com/office/powerpoint/2010/main" val="11855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Definition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2D3EE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What is Weapon-Target Assignment (WTA)?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Weapon-Target Assignment (WTA): </a:t>
            </a: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optimal assignment of available missiles to threats.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Original Scenario (Defense): </a:t>
            </a: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Stopping incoming missiles with our own missiles.</a:t>
            </a: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NP-Hard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Complexity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As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missiles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targets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increase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space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grows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exponentially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Kinematic Approach: </a:t>
            </a: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Assignment is not just numerical; it's done by calculating the positions and vectors of targets in the x-y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rPr dirty="0">
                <a:solidFill>
                  <a:srgbClr val="FFFFFF"/>
                </a:solidFill>
              </a:rP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rPr dirty="0" err="1">
                <a:solidFill>
                  <a:srgbClr val="FFFFFF"/>
                </a:solidFill>
              </a:rPr>
              <a:t>Assignment Visual on x-y axis from the Paper</a:t>
            </a:r>
            <a:endParaRPr dirty="0"/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rPr dirty="0" err="1">
                <a:solidFill>
                  <a:srgbClr val="FFFFFF"/>
                </a:solidFill>
              </a:rPr>
              <a:t>Place image here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1E4359-5BDA-4EA7-A37A-9EFBB06A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558734"/>
            <a:ext cx="5486400" cy="2633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CAD6A3-C886-4F69-9786-D2F0C4F7D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92777"/>
            <a:ext cx="5486400" cy="24364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0FE021-9BF0-4CE6-9DBC-41E87C451AE3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3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Why is it </a:t>
            </a:r>
            <a:r>
              <a:rPr lang="en-US" dirty="0">
                <a:solidFill>
                  <a:srgbClr val="FFFFFF"/>
                </a:solidFill>
              </a:rPr>
              <a:t>NP-</a:t>
            </a:r>
            <a:r>
              <a:rPr dirty="0">
                <a:solidFill>
                  <a:srgbClr val="FFFFFF"/>
                </a:solidFill>
              </a:rPr>
              <a:t>Hard?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87171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NP-Hard Structure and Combinatorial Explosion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6692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Number of possible assignments for 10 missiles and 5 targets: 5¹⁰ = 9,765,625 different combinations.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When Decoys are added (15-unit vector): 6¹⁵ ≈ 470 billion combinations.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Traditional methods fail at this scale.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Therefore, Metaheuristic Algorithms are used.</a:t>
            </a: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 not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guarantee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optimal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but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pretty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good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solutions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within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acceptable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time.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828800"/>
          <a:ext cx="41148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Solution Space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Old Model (Missiles Only)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~10 million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New Model (Missile+Decoy)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~470 billion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Large Scenario (50 units)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~10³⁸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Comparison: Atoms in the universe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~10⁸⁰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313CA9C-1CDD-44E0-B746-248594BAC535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4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14604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2800" dirty="0" err="1">
                <a:solidFill>
                  <a:srgbClr val="FFFFFF"/>
                </a:solidFill>
              </a:rPr>
              <a:t>Critical Guidance Parameters: Miss Distance, Time-to-Go, and LOS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611086"/>
            <a:ext cx="530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Distance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l-GR" sz="1400" dirty="0">
                <a:solidFill>
                  <a:schemeClr val="bg1"/>
                </a:solidFill>
              </a:rPr>
              <a:t>Δ</a:t>
            </a:r>
            <a:r>
              <a:rPr lang="en-US" sz="1400" dirty="0">
                <a:solidFill>
                  <a:schemeClr val="bg1"/>
                </a:solidFill>
              </a:rPr>
              <a:t>S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Meaning: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Closest distance to the target during flight.</a:t>
            </a: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Minimize?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Closer to zero = Maximum lethality.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1300" dirty="0">
              <a:solidFill>
                <a:srgbClr val="94A3B8"/>
              </a:solidFill>
              <a:latin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EC167-35E2-4704-8AB1-E6F350552B16}"/>
              </a:ext>
            </a:extLst>
          </p:cNvPr>
          <p:cNvSpPr txBox="1"/>
          <p:nvPr/>
        </p:nvSpPr>
        <p:spPr>
          <a:xfrm>
            <a:off x="731520" y="3139375"/>
            <a:ext cx="543038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   Time-to-Go (</a:t>
            </a:r>
            <a:r>
              <a:rPr lang="en-US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tgo</a:t>
            </a:r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Meaning: 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stimated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time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hit the target</a:t>
            </a: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Minimize? 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Gives the target zero time to evade or jam.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19221-AC24-4E6D-836F-E2EE62BB5C0D}"/>
              </a:ext>
            </a:extLst>
          </p:cNvPr>
          <p:cNvSpPr txBox="1"/>
          <p:nvPr/>
        </p:nvSpPr>
        <p:spPr>
          <a:xfrm>
            <a:off x="731520" y="4731699"/>
            <a:ext cx="53035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   LOS (Line of Sight):</a:t>
            </a:r>
          </a:p>
          <a:p>
            <a:endParaRPr lang="en-US" sz="13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Meaning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dirty="0"/>
              <a:t> 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Direct line connecting missile and target. Its change rate is LOS Rate (λ').</a:t>
            </a:r>
          </a:p>
          <a:p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Minimize? 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Keep LOS rate at zero. No change in LOS angle = Definite collision course.</a:t>
            </a: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2F854-F2F0-480E-B268-258192AFD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2602845"/>
            <a:ext cx="5034501" cy="24945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88584F-04D9-474B-8659-80DF030F278E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5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25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Approaches in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B923C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📐 Traditional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Lagrange Relaxation, Exhaustive Search, Branch &amp; Bound. Accurate at small scale, but fails on large problems.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🧬 Genetic Algorithms (GA)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Inspired by natural selection. Explores the search space via Selection, Crossover, and Mutation.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It</a:t>
            </a:r>
            <a:r>
              <a:rPr lang="tr-TR" dirty="0">
                <a:solidFill>
                  <a:srgbClr val="FFFFFF"/>
                </a:solidFill>
              </a:rPr>
              <a:t> is </a:t>
            </a:r>
            <a:r>
              <a:rPr lang="tr-TR" dirty="0" err="1">
                <a:solidFill>
                  <a:srgbClr val="FFFFFF"/>
                </a:solidFill>
              </a:rPr>
              <a:t>compatible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with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integer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problems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2D3EE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🐝 Artificial Bee Colony (ABC)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Simulates the foraging behavior of honey bees. The main algorithm proposed by the paper.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It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converges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optimum </a:t>
            </a:r>
            <a:r>
              <a:rPr lang="tr-TR" dirty="0" err="1">
                <a:solidFill>
                  <a:srgbClr val="FFFFFF"/>
                </a:solidFill>
              </a:rPr>
              <a:t>value</a:t>
            </a:r>
            <a:r>
              <a:rPr lang="tr-TR" dirty="0">
                <a:solidFill>
                  <a:srgbClr val="FFFFFF"/>
                </a:solidFill>
              </a:rPr>
              <a:t>, </a:t>
            </a:r>
            <a:r>
              <a:rPr lang="tr-TR" dirty="0" err="1">
                <a:solidFill>
                  <a:srgbClr val="FFFFFF"/>
                </a:solidFill>
              </a:rPr>
              <a:t>thanks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employee</a:t>
            </a:r>
            <a:r>
              <a:rPr lang="tr-TR" dirty="0">
                <a:solidFill>
                  <a:srgbClr val="FFFFFF"/>
                </a:solidFill>
              </a:rPr>
              <a:t>, </a:t>
            </a:r>
            <a:r>
              <a:rPr lang="tr-TR" dirty="0" err="1">
                <a:solidFill>
                  <a:srgbClr val="FFFFFF"/>
                </a:solidFill>
              </a:rPr>
              <a:t>onlooker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scout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bees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🌀 Particle Swarm Optimization (PSO)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63440"/>
            <a:ext cx="4754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Models the collective movement of bird flocks. Works in continuous space, adapted to integer using floor().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It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converges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optimum </a:t>
            </a:r>
            <a:r>
              <a:rPr lang="tr-TR" dirty="0" err="1">
                <a:solidFill>
                  <a:srgbClr val="FFFFFF"/>
                </a:solidFill>
              </a:rPr>
              <a:t>value</a:t>
            </a:r>
            <a:r>
              <a:rPr lang="tr-TR" dirty="0">
                <a:solidFill>
                  <a:srgbClr val="FFFFFF"/>
                </a:solidFill>
              </a:rPr>
              <a:t>, </a:t>
            </a:r>
            <a:r>
              <a:rPr lang="tr-TR" dirty="0" err="1">
                <a:solidFill>
                  <a:srgbClr val="FFFFFF"/>
                </a:solidFill>
              </a:rPr>
              <a:t>thanks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speed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location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updates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02A366-A2B3-4834-A631-843F6EA4D766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6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Solution Approach Proposed by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Kinematic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Phit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Calculation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Distance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Time-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LOS(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Sight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considered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calculate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Phit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Grouping Constraints: </a:t>
            </a: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Prevents excessive accumulation of ammunition on certain targets.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</a:t>
            </a:r>
            <a:r>
              <a:rPr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Penalty Function: </a:t>
            </a: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Penalties are added to the cost function for solutions that violate constraints.</a:t>
            </a: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Function</a:t>
            </a:r>
            <a:r>
              <a:rPr lang="tr-TR" sz="13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Algorithms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minimize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expected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survival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tr-TR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targets</a:t>
            </a: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82880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Fixed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Adaptive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Assignment Rule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Exact number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Min-Max range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Flexibility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Example (Target 1)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Exactly 4 missiles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1–4 missiles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Penalty Formula</a:t>
                      </a:r>
                      <a:endParaRPr dirty="0"/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Qj · Gj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Uj·Ej + Lj·Fj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Solution Space</a:t>
                      </a:r>
                      <a:endParaRPr dirty="0"/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Narrow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Wide</a:t>
                      </a:r>
                      <a:endParaRPr dirty="0"/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Resim 7">
            <a:extLst>
              <a:ext uri="{FF2B5EF4-FFF2-40B4-BE49-F238E27FC236}">
                <a16:creationId xmlns:a16="http://schemas.microsoft.com/office/drawing/2014/main" id="{A95BB820-50D1-4206-9FC7-7AF58703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4494"/>
            <a:ext cx="4981963" cy="866896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0BADC4B9-DA13-4B2A-8D39-DE09417109A0}"/>
              </a:ext>
            </a:extLst>
          </p:cNvPr>
          <p:cNvSpPr txBox="1"/>
          <p:nvPr/>
        </p:nvSpPr>
        <p:spPr>
          <a:xfrm>
            <a:off x="6384043" y="4691122"/>
            <a:ext cx="328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Fixed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Grouping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16A90259-BE13-47CF-A196-81C0289C6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77" y="5610146"/>
            <a:ext cx="4997606" cy="1124107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FBAF26E1-3782-43AE-9943-B5575147CC84}"/>
              </a:ext>
            </a:extLst>
          </p:cNvPr>
          <p:cNvSpPr txBox="1"/>
          <p:nvPr/>
        </p:nvSpPr>
        <p:spPr>
          <a:xfrm>
            <a:off x="6384042" y="5802867"/>
            <a:ext cx="328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For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Adaptive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Grouping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1E2A6-1C33-4FB3-A222-66B993593F62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7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sz="2800" dirty="0">
                <a:solidFill>
                  <a:srgbClr val="FFFFFF"/>
                </a:solidFill>
              </a:rPr>
              <a:t>How is Kinematic Hit Probability (Pij) Calculated?</a:t>
            </a:r>
            <a:endParaRPr lang="en-US" sz="2800" dirty="0"/>
          </a:p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sz="1300" dirty="0">
                <a:solidFill>
                  <a:srgbClr val="FFFFFF"/>
                </a:solidFill>
              </a:rPr>
              <a:t>-&gt; Paper's Probability Function (Equations 8, 9, and 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/>
              </a:rPr>
              <a:t>Miss Distance: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/>
              </a:rPr>
              <a:t>Time-to-Go: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FFFFFF"/>
                </a:solidFill>
                <a:latin typeface="Segoe UI"/>
              </a:rPr>
              <a:t>Line of Sight: </a:t>
            </a:r>
            <a:endParaRPr sz="1300" dirty="0">
              <a:solidFill>
                <a:srgbClr val="94A3B8"/>
              </a:solidFill>
              <a:latin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CC4C7-3FDF-45C0-9E54-28EB4D478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983" y="1724297"/>
            <a:ext cx="3675017" cy="11047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7D43B-E547-4716-9801-6FA304D92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39" y="5327135"/>
            <a:ext cx="5364481" cy="695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532E82-A6FE-4F0B-8F2E-F7ED0179E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39" y="3103202"/>
            <a:ext cx="5363661" cy="1851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1DF8F6-5DB6-40CB-83CD-00FEC2B97BA0}"/>
              </a:ext>
            </a:extLst>
          </p:cNvPr>
          <p:cNvSpPr txBox="1"/>
          <p:nvPr/>
        </p:nvSpPr>
        <p:spPr>
          <a:xfrm>
            <a:off x="6352903" y="1724297"/>
            <a:ext cx="530352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Pij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(probability of missile </a:t>
            </a:r>
            <a:r>
              <a:rPr lang="en-US" sz="1300" i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hitting target </a:t>
            </a:r>
            <a:r>
              <a:rPr lang="en-US" sz="13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</a:t>
            </a: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is modeled by AI as a negative exponential function of three kinematic indicators (Eq. 8).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6A982-1FDC-415F-8F2F-3BDEA5739C56}"/>
              </a:ext>
            </a:extLst>
          </p:cNvPr>
          <p:cNvSpPr/>
          <p:nvPr/>
        </p:nvSpPr>
        <p:spPr>
          <a:xfrm>
            <a:off x="6352903" y="5353561"/>
            <a:ext cx="553429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paper combines these three indicators with balancing weights (β) to find the final hit probability: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C33E2-7973-406D-9921-722D631ACD03}"/>
              </a:ext>
            </a:extLst>
          </p:cNvPr>
          <p:cNvSpPr/>
          <p:nvPr/>
        </p:nvSpPr>
        <p:spPr>
          <a:xfrm>
            <a:off x="6352903" y="3429000"/>
            <a:ext cx="553429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average value of these 3 parameters is calculated separately and written as the denominator in the exponent in Equation (8):</a:t>
            </a:r>
            <a:endParaRPr lang="tr-TR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C1BC9-ED64-4628-88F9-5ED88CAA9903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8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921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Working Mechanisms of the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Iteration steps and basic formulas of the meta-heuristic algorithms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0F1E2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2D3EE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🐝 Artificial Bee Colony (ABC)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1. Employed Bee Phase 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2. Onlooker Bee Phase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3. Scout Bee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Position Update: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157" y="5390911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2D3EE"/>
                </a:solidFill>
                <a:latin typeface="Consolas"/>
              </a:defRPr>
            </a:pPr>
            <a:r>
              <a:rPr sz="1200" dirty="0" err="1">
                <a:solidFill>
                  <a:srgbClr val="FFFFFF"/>
                </a:solidFill>
              </a:rPr>
              <a:t>v_ij</a:t>
            </a:r>
            <a:r>
              <a:rPr sz="1200" dirty="0">
                <a:solidFill>
                  <a:srgbClr val="FFFFFF"/>
                </a:solidFill>
              </a:rPr>
              <a:t> = </a:t>
            </a:r>
            <a:r>
              <a:rPr sz="1200" dirty="0" err="1">
                <a:solidFill>
                  <a:srgbClr val="FFFFFF"/>
                </a:solidFill>
              </a:rPr>
              <a:t>x_ij</a:t>
            </a:r>
            <a:r>
              <a:rPr sz="1200" dirty="0">
                <a:solidFill>
                  <a:srgbClr val="FFFFFF"/>
                </a:solidFill>
              </a:rPr>
              <a:t> + Φ(</a:t>
            </a:r>
            <a:r>
              <a:rPr sz="1200" dirty="0" err="1">
                <a:solidFill>
                  <a:srgbClr val="FFFFFF"/>
                </a:solidFill>
              </a:rPr>
              <a:t>x_ij</a:t>
            </a:r>
            <a:r>
              <a:rPr sz="1200" dirty="0">
                <a:solidFill>
                  <a:srgbClr val="FFFFFF"/>
                </a:solidFill>
              </a:rPr>
              <a:t> - </a:t>
            </a:r>
            <a:r>
              <a:rPr sz="1200" dirty="0" err="1">
                <a:solidFill>
                  <a:srgbClr val="FFFFFF"/>
                </a:solidFill>
              </a:rPr>
              <a:t>x_kj</a:t>
            </a:r>
            <a:r>
              <a:rPr sz="12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F1520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297680" y="1902172"/>
            <a:ext cx="3383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🌀 Particle Swarm Optimization (PSO)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2511132"/>
            <a:ext cx="3200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1. Velocity Update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2. Position Update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3. 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Velocity / Position Formulas: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2037" y="5349240"/>
            <a:ext cx="2417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472B6"/>
                </a:solidFill>
                <a:latin typeface="Consolas"/>
              </a:defRPr>
            </a:pPr>
            <a:r>
              <a:rPr sz="1200" dirty="0" err="1">
                <a:solidFill>
                  <a:srgbClr val="FFFFFF"/>
                </a:solidFill>
              </a:rPr>
              <a:t>v_i</a:t>
            </a:r>
            <a:r>
              <a:rPr sz="1200" dirty="0">
                <a:solidFill>
                  <a:srgbClr val="FFFFFF"/>
                </a:solidFill>
              </a:rPr>
              <a:t> = </a:t>
            </a:r>
            <a:r>
              <a:rPr sz="1200" dirty="0" err="1">
                <a:solidFill>
                  <a:srgbClr val="FFFFFF"/>
                </a:solidFill>
              </a:rPr>
              <a:t>w·v_i</a:t>
            </a:r>
            <a:r>
              <a:rPr sz="1200" dirty="0">
                <a:solidFill>
                  <a:srgbClr val="FFFFFF"/>
                </a:solidFill>
              </a:rPr>
              <a:t> + c1·r1(</a:t>
            </a:r>
            <a:r>
              <a:rPr sz="1200" dirty="0" err="1">
                <a:solidFill>
                  <a:srgbClr val="FFFFFF"/>
                </a:solidFill>
              </a:rPr>
              <a:t>pbest</a:t>
            </a:r>
            <a:r>
              <a:rPr sz="1200" dirty="0">
                <a:solidFill>
                  <a:srgbClr val="FFFFFF"/>
                </a:solidFill>
              </a:rPr>
              <a:t>) + c2·r2(</a:t>
            </a:r>
            <a:r>
              <a:rPr sz="1200" dirty="0" err="1">
                <a:solidFill>
                  <a:srgbClr val="FFFFFF"/>
                </a:solidFill>
              </a:rPr>
              <a:t>gbest</a:t>
            </a:r>
            <a:r>
              <a:rPr sz="1200" dirty="0">
                <a:solidFill>
                  <a:srgbClr val="FFFFFF"/>
                </a:solidFill>
              </a:rPr>
              <a:t>)</a:t>
            </a:r>
            <a:br>
              <a:rPr sz="1200" dirty="0"/>
            </a:br>
            <a:r>
              <a:rPr sz="1200" dirty="0" err="1">
                <a:solidFill>
                  <a:srgbClr val="FFFFFF"/>
                </a:solidFill>
              </a:rPr>
              <a:t>x_i</a:t>
            </a:r>
            <a:r>
              <a:rPr sz="1200" dirty="0">
                <a:solidFill>
                  <a:srgbClr val="FFFFFF"/>
                </a:solidFill>
              </a:rPr>
              <a:t> = </a:t>
            </a:r>
            <a:r>
              <a:rPr sz="1200" dirty="0" err="1">
                <a:solidFill>
                  <a:srgbClr val="FFFFFF"/>
                </a:solidFill>
              </a:rPr>
              <a:t>x_i</a:t>
            </a:r>
            <a:r>
              <a:rPr sz="1200" dirty="0">
                <a:solidFill>
                  <a:srgbClr val="FFFFFF"/>
                </a:solidFill>
              </a:rPr>
              <a:t> + </a:t>
            </a:r>
            <a:r>
              <a:rPr sz="1200" dirty="0" err="1">
                <a:solidFill>
                  <a:srgbClr val="FFFFFF"/>
                </a:solidFill>
              </a:rPr>
              <a:t>v_i</a:t>
            </a:r>
            <a:endParaRPr sz="1200" dirty="0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2241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🧬 Genetic Algorithm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532311"/>
            <a:ext cx="3200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1. Selection (Tournament)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2. Crossover</a:t>
            </a:r>
            <a:endParaRPr lang="en-US" sz="13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3. Mutation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149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Crossover Example (</a:t>
            </a:r>
            <a:r>
              <a:rPr dirty="0" err="1">
                <a:solidFill>
                  <a:srgbClr val="FFFFFF"/>
                </a:solidFill>
              </a:rPr>
              <a:t>p_c</a:t>
            </a:r>
            <a:r>
              <a:rPr dirty="0">
                <a:solidFill>
                  <a:srgbClr val="FFFFFF"/>
                </a:solidFill>
              </a:rPr>
              <a:t>=0.8):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303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4D399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</a:rPr>
              <a:t>P1: [1 1 | 2 3] </a:t>
            </a:r>
            <a:br>
              <a:rPr dirty="0"/>
            </a:br>
            <a:r>
              <a:rPr dirty="0">
                <a:solidFill>
                  <a:srgbClr val="FFFFFF"/>
                </a:solidFill>
              </a:rPr>
              <a:t>P2: [0 4 | 5 5] </a:t>
            </a:r>
            <a:br>
              <a:rPr dirty="0"/>
            </a:br>
            <a:r>
              <a:rPr dirty="0">
                <a:solidFill>
                  <a:srgbClr val="FFFFFF"/>
                </a:solidFill>
              </a:rPr>
              <a:t>Child: [1 1 | 5 5]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3EA333-FE67-4268-BEDD-E8292F1BD31D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9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/>
              <a:t>ABC Algorithm: 2-Bee Execution Example</a:t>
            </a:r>
            <a:endParaRPr dirty="0"/>
          </a:p>
        </p:txBody>
      </p:sp>
      <p:pic>
        <p:nvPicPr>
          <p:cNvPr id="7" name="Picture 2" descr="wta_abc_2bees_slow.gif">
            <a:extLst>
              <a:ext uri="{FF2B5EF4-FFF2-40B4-BE49-F238E27FC236}">
                <a16:creationId xmlns:a16="http://schemas.microsoft.com/office/drawing/2014/main" id="{30782E77-3520-4EFC-811A-5F606C005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002" y="1517755"/>
            <a:ext cx="7671996" cy="5145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E0642-4DB8-40F7-A1CF-FE98EC334FD3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10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1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/>
              <a:t>PSO Algorithm: Discrete WTA Execution Example</a:t>
            </a:r>
            <a:endParaRPr dirty="0"/>
          </a:p>
        </p:txBody>
      </p:sp>
      <p:pic>
        <p:nvPicPr>
          <p:cNvPr id="8" name="Picture 2" descr="wta_pso_velocity_discrete.gif">
            <a:extLst>
              <a:ext uri="{FF2B5EF4-FFF2-40B4-BE49-F238E27FC236}">
                <a16:creationId xmlns:a16="http://schemas.microsoft.com/office/drawing/2014/main" id="{0F3C30D4-D104-4C03-86B6-4C756ED4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446" y="1446764"/>
            <a:ext cx="7593107" cy="5291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ABB1F4-06FE-4259-8021-032B73EBAA49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 11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79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/>
              <a:t>Genetic Algorithm: Discrete WTA Execution Example</a:t>
            </a:r>
            <a:endParaRPr dirty="0"/>
          </a:p>
        </p:txBody>
      </p:sp>
      <p:pic>
        <p:nvPicPr>
          <p:cNvPr id="6" name="Picture 2" descr="wta_ga_discrete.gif">
            <a:extLst>
              <a:ext uri="{FF2B5EF4-FFF2-40B4-BE49-F238E27FC236}">
                <a16:creationId xmlns:a16="http://schemas.microsoft.com/office/drawing/2014/main" id="{A2F58205-C54F-4AC7-A21F-F0E677767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929" y="1446764"/>
            <a:ext cx="7584142" cy="5249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3E764C-286B-468F-B90B-D38ADA71E14A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12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952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5364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dirty="0" err="1">
                <a:solidFill>
                  <a:srgbClr val="FFFFFF"/>
                </a:solidFill>
              </a:rPr>
              <a:t>Meaning</a:t>
            </a:r>
            <a:r>
              <a:rPr lang="tr-TR" dirty="0">
                <a:solidFill>
                  <a:srgbClr val="FFFFFF"/>
                </a:solidFill>
              </a:rPr>
              <a:t> of </a:t>
            </a:r>
            <a:r>
              <a:rPr lang="tr-TR" dirty="0" err="1">
                <a:solidFill>
                  <a:srgbClr val="FFFFFF"/>
                </a:solidFill>
              </a:rPr>
              <a:t>Parameters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Constant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Values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Apply</a:t>
            </a:r>
            <a:r>
              <a:rPr lang="tr-TR" dirty="0">
                <a:solidFill>
                  <a:srgbClr val="FFFFFF"/>
                </a:solidFill>
              </a:rPr>
              <a:t> ABC </a:t>
            </a:r>
            <a:r>
              <a:rPr lang="tr-TR" dirty="0" err="1">
                <a:solidFill>
                  <a:srgbClr val="FFFFFF"/>
                </a:solidFill>
              </a:rPr>
              <a:t>Algorithm</a:t>
            </a:r>
            <a:endParaRPr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0E8F2C8-22CB-401F-9918-FBACFB9FE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3851"/>
            <a:ext cx="5153825" cy="453049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173B0B97-D19F-4F64-823A-0711E3807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977" y="1953851"/>
            <a:ext cx="4288553" cy="4530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13B2EC-01A9-4896-8E6D-5FDE42CD0469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13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86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>
                <a:solidFill>
                  <a:srgbClr val="FFFFFF"/>
                </a:solidFill>
              </a:rPr>
              <a:t>Assignment Results — Case </a:t>
            </a:r>
            <a:r>
              <a:rPr lang="tr-TR" dirty="0">
                <a:solidFill>
                  <a:srgbClr val="FFFFFF"/>
                </a:solidFill>
              </a:rPr>
              <a:t>1</a:t>
            </a:r>
            <a:r>
              <a:rPr lang="en-US" dirty="0">
                <a:solidFill>
                  <a:srgbClr val="FFFFFF"/>
                </a:solidFill>
              </a:rPr>
              <a:t> (</a:t>
            </a:r>
            <a:r>
              <a:rPr lang="tr-TR" dirty="0">
                <a:solidFill>
                  <a:srgbClr val="FFFFFF"/>
                </a:solidFill>
              </a:rPr>
              <a:t>3</a:t>
            </a:r>
            <a:r>
              <a:rPr lang="en-US" dirty="0">
                <a:solidFill>
                  <a:srgbClr val="FFFFFF"/>
                </a:solidFill>
              </a:rPr>
              <a:t> Targets)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6114A3-716C-4BD2-B37C-49C02D71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6764"/>
            <a:ext cx="3300549" cy="4953691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DE5EE9-8592-4142-8352-A91FA6EA4257}"/>
              </a:ext>
            </a:extLst>
          </p:cNvPr>
          <p:cNvCxnSpPr/>
          <p:nvPr/>
        </p:nvCxnSpPr>
        <p:spPr>
          <a:xfrm flipV="1">
            <a:off x="7955281" y="2410450"/>
            <a:ext cx="487678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B0A35F-F687-4E57-944D-D820A6AFF374}"/>
              </a:ext>
            </a:extLst>
          </p:cNvPr>
          <p:cNvCxnSpPr/>
          <p:nvPr/>
        </p:nvCxnSpPr>
        <p:spPr>
          <a:xfrm>
            <a:off x="7955281" y="3923609"/>
            <a:ext cx="487678" cy="70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250802-72FC-4AC7-84E3-4984E1C752F3}"/>
              </a:ext>
            </a:extLst>
          </p:cNvPr>
          <p:cNvSpPr txBox="1"/>
          <p:nvPr/>
        </p:nvSpPr>
        <p:spPr>
          <a:xfrm>
            <a:off x="4222764" y="1531840"/>
            <a:ext cx="4186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Fixed Constraint</a:t>
            </a:r>
          </a:p>
          <a:p>
            <a:r>
              <a:rPr lang="en-US" dirty="0">
                <a:solidFill>
                  <a:schemeClr val="bg1"/>
                </a:solidFill>
              </a:rPr>
              <a:t>T1 -&gt; </a:t>
            </a:r>
            <a:r>
              <a:rPr lang="tr-TR" dirty="0">
                <a:solidFill>
                  <a:schemeClr val="bg1"/>
                </a:solidFill>
              </a:rPr>
              <a:t>4</a:t>
            </a:r>
            <a:r>
              <a:rPr lang="en-US" dirty="0">
                <a:solidFill>
                  <a:schemeClr val="bg1"/>
                </a:solidFill>
              </a:rPr>
              <a:t> | T</a:t>
            </a:r>
            <a:r>
              <a:rPr lang="tr-TR" dirty="0">
                <a:solidFill>
                  <a:schemeClr val="bg1"/>
                </a:solidFill>
              </a:rPr>
              <a:t>3</a:t>
            </a:r>
            <a:r>
              <a:rPr lang="en-US" dirty="0">
                <a:solidFill>
                  <a:schemeClr val="bg1"/>
                </a:solidFill>
              </a:rPr>
              <a:t> -&gt; </a:t>
            </a:r>
            <a:r>
              <a:rPr lang="tr-TR" dirty="0">
                <a:solidFill>
                  <a:schemeClr val="bg1"/>
                </a:solidFill>
              </a:rPr>
              <a:t>4</a:t>
            </a:r>
            <a:r>
              <a:rPr lang="en-US" dirty="0">
                <a:solidFill>
                  <a:schemeClr val="bg1"/>
                </a:solidFill>
              </a:rPr>
              <a:t> | T</a:t>
            </a:r>
            <a:r>
              <a:rPr lang="tr-TR" dirty="0">
                <a:solidFill>
                  <a:schemeClr val="bg1"/>
                </a:solidFill>
              </a:rPr>
              <a:t>5</a:t>
            </a:r>
            <a:r>
              <a:rPr lang="en-US" dirty="0">
                <a:solidFill>
                  <a:schemeClr val="bg1"/>
                </a:solidFill>
              </a:rPr>
              <a:t> -&gt;2</a:t>
            </a:r>
          </a:p>
          <a:p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D2B560-580B-43C3-87A5-E67A60638D2B}"/>
              </a:ext>
            </a:extLst>
          </p:cNvPr>
          <p:cNvSpPr txBox="1"/>
          <p:nvPr/>
        </p:nvSpPr>
        <p:spPr>
          <a:xfrm>
            <a:off x="4222763" y="5271775"/>
            <a:ext cx="418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Adaptive Constraint</a:t>
            </a:r>
          </a:p>
          <a:p>
            <a:r>
              <a:rPr lang="en-US" dirty="0">
                <a:solidFill>
                  <a:schemeClr val="bg1"/>
                </a:solidFill>
              </a:rPr>
              <a:t>Min: 1</a:t>
            </a:r>
          </a:p>
          <a:p>
            <a:r>
              <a:rPr lang="en-US" dirty="0">
                <a:solidFill>
                  <a:schemeClr val="bg1"/>
                </a:solidFill>
              </a:rPr>
              <a:t>Max: </a:t>
            </a:r>
            <a:r>
              <a:rPr lang="tr-TR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For each target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B44982C-9863-446E-814D-C6804F95AA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81"/>
          <a:stretch/>
        </p:blipFill>
        <p:spPr>
          <a:xfrm>
            <a:off x="4316250" y="2285238"/>
            <a:ext cx="3448336" cy="276052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82BF51B-F4AA-48A5-9056-E4A52D10B1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077"/>
          <a:stretch/>
        </p:blipFill>
        <p:spPr>
          <a:xfrm>
            <a:off x="8604197" y="685800"/>
            <a:ext cx="3448336" cy="2760519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873D836A-5185-45DA-BD7B-53E9FC71D3B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717"/>
          <a:stretch/>
        </p:blipFill>
        <p:spPr>
          <a:xfrm>
            <a:off x="8599972" y="3639935"/>
            <a:ext cx="3452561" cy="27605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27C6F7-ACAD-496D-A8C0-229C6F0588E5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14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285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Paper Model (Defense) Verification</a:t>
            </a:r>
            <a:r>
              <a:rPr lang="tr-TR" dirty="0">
                <a:solidFill>
                  <a:srgbClr val="FFFFFF"/>
                </a:solidFill>
              </a:rPr>
              <a:t> Case1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The model proposed in the paper was rewritten and verified by me, and GA was added.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are</a:t>
            </a:r>
            <a:r>
              <a:rPr lang="tr-TR" dirty="0">
                <a:solidFill>
                  <a:srgbClr val="FFFFFF"/>
                </a:solidFill>
              </a:rPr>
              <a:t> 10 </a:t>
            </a:r>
            <a:r>
              <a:rPr lang="tr-TR" dirty="0" err="1">
                <a:solidFill>
                  <a:srgbClr val="FFFFFF"/>
                </a:solidFill>
              </a:rPr>
              <a:t>missiles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3 </a:t>
            </a:r>
            <a:r>
              <a:rPr lang="tr-TR" dirty="0" err="1">
                <a:solidFill>
                  <a:srgbClr val="FFFFFF"/>
                </a:solidFill>
              </a:rPr>
              <a:t>targets</a:t>
            </a:r>
            <a:r>
              <a:rPr lang="tr-TR" dirty="0">
                <a:solidFill>
                  <a:srgbClr val="FFFFFF"/>
                </a:solidFill>
              </a:rPr>
              <a:t> in Case 1.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B0275676-57E2-4E40-A92F-7EA92F2B8A72}"/>
              </a:ext>
            </a:extLst>
          </p:cNvPr>
          <p:cNvSpPr/>
          <p:nvPr/>
        </p:nvSpPr>
        <p:spPr>
          <a:xfrm>
            <a:off x="7690100" y="2046573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CASE 1 (3 Targets) - ADAPTIVE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83EC987-90C9-4863-B459-98620513CE87}"/>
              </a:ext>
            </a:extLst>
          </p:cNvPr>
          <p:cNvGraphicFramePr>
            <a:graphicFrameLocks noGrp="1"/>
          </p:cNvGraphicFramePr>
          <p:nvPr/>
        </p:nvGraphicFramePr>
        <p:xfrm>
          <a:off x="7690100" y="2412333"/>
          <a:ext cx="2999232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03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lang="tr-TR" dirty="0" err="1"/>
                        <a:t>Paper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Result</a:t>
                      </a:r>
                      <a:endParaRPr dirty="0"/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lang="tr-TR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dirty="0" err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lang="tr-TR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0.0241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1B8E5438-1F96-424B-BADF-38BEB945E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61" y="3684270"/>
            <a:ext cx="2783208" cy="14439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BE4433-A762-4A67-A92A-4921D51582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313"/>
          <a:stretch/>
        </p:blipFill>
        <p:spPr>
          <a:xfrm>
            <a:off x="6375461" y="5238495"/>
            <a:ext cx="2783208" cy="1464868"/>
          </a:xfrm>
          <a:prstGeom prst="rect">
            <a:avLst/>
          </a:prstGeom>
        </p:spPr>
      </p:pic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621FFC98-6D35-41C6-B672-88B4704B782C}"/>
              </a:ext>
            </a:extLst>
          </p:cNvPr>
          <p:cNvSpPr/>
          <p:nvPr/>
        </p:nvSpPr>
        <p:spPr>
          <a:xfrm>
            <a:off x="1394654" y="2046573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CASE 1 (3 Targets) - FIXED</a:t>
            </a:r>
          </a:p>
        </p:txBody>
      </p:sp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929D5527-DED4-49F1-9733-0A7A7FD1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439128"/>
              </p:ext>
            </p:extLst>
          </p:nvPr>
        </p:nvGraphicFramePr>
        <p:xfrm>
          <a:off x="1394655" y="2412333"/>
          <a:ext cx="2999233" cy="69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88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lang="tr-TR" dirty="0" err="1"/>
                        <a:t>Paper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Result</a:t>
                      </a:r>
                      <a:endParaRPr dirty="0"/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3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0.1252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0.0525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Resim 6">
            <a:extLst>
              <a:ext uri="{FF2B5EF4-FFF2-40B4-BE49-F238E27FC236}">
                <a16:creationId xmlns:a16="http://schemas.microsoft.com/office/drawing/2014/main" id="{EA894771-8310-4B71-B282-022975F73A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648"/>
          <a:stretch/>
        </p:blipFill>
        <p:spPr>
          <a:xfrm>
            <a:off x="9297727" y="5238494"/>
            <a:ext cx="2783208" cy="146304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6DEC5F50-A83A-46B1-AEBB-7F57E2620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7727" y="3684270"/>
            <a:ext cx="2783208" cy="146304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CC41EA22-AC36-489D-B1FA-C784E84CC0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65" y="3681044"/>
            <a:ext cx="2783207" cy="1443990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AB48C771-5E60-493B-8570-C27AF7226F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3331" y="3684270"/>
            <a:ext cx="2783207" cy="144399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858422F3-90DE-4AEB-A4EC-FCFF4C5309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3331" y="5237910"/>
            <a:ext cx="2783208" cy="1465452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E7E9EC4B-2766-4685-BB54-7B90A5FF0B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061" y="5256146"/>
            <a:ext cx="2783209" cy="14472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30C065-46A4-4C69-84AF-032FBD88AAA4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 15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56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 err="1">
                <a:solidFill>
                  <a:srgbClr val="FFFFFF"/>
                </a:solidFill>
              </a:rPr>
              <a:t>Assignment Results — Case 2 (5 Targets)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6114A3-716C-4BD2-B37C-49C02D71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46764"/>
            <a:ext cx="3300549" cy="49536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D748EC-AECF-4674-88FE-FE2AFA7EFF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602"/>
          <a:stretch/>
        </p:blipFill>
        <p:spPr>
          <a:xfrm>
            <a:off x="4324700" y="2257289"/>
            <a:ext cx="3439886" cy="266947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1DE5EE9-8592-4142-8352-A91FA6EA4257}"/>
              </a:ext>
            </a:extLst>
          </p:cNvPr>
          <p:cNvCxnSpPr/>
          <p:nvPr/>
        </p:nvCxnSpPr>
        <p:spPr>
          <a:xfrm flipV="1">
            <a:off x="7955281" y="2410450"/>
            <a:ext cx="487678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B0A35F-F687-4E57-944D-D820A6AFF374}"/>
              </a:ext>
            </a:extLst>
          </p:cNvPr>
          <p:cNvCxnSpPr/>
          <p:nvPr/>
        </p:nvCxnSpPr>
        <p:spPr>
          <a:xfrm>
            <a:off x="7955281" y="3923609"/>
            <a:ext cx="487678" cy="705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5C847E05-5789-4EA0-AEF8-80548B98C7B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574"/>
          <a:stretch/>
        </p:blipFill>
        <p:spPr>
          <a:xfrm>
            <a:off x="8608422" y="3745811"/>
            <a:ext cx="3439886" cy="29062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46110D1-7618-47EE-B244-04ED2A5ED0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762"/>
          <a:stretch/>
        </p:blipFill>
        <p:spPr>
          <a:xfrm>
            <a:off x="8608422" y="685800"/>
            <a:ext cx="3439886" cy="29062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A250802-72FC-4AC7-84E3-4984E1C752F3}"/>
              </a:ext>
            </a:extLst>
          </p:cNvPr>
          <p:cNvSpPr txBox="1"/>
          <p:nvPr/>
        </p:nvSpPr>
        <p:spPr>
          <a:xfrm>
            <a:off x="4222764" y="1531840"/>
            <a:ext cx="4186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Fixed Constraint</a:t>
            </a:r>
          </a:p>
          <a:p>
            <a:r>
              <a:rPr lang="en-US" dirty="0">
                <a:solidFill>
                  <a:schemeClr val="bg1"/>
                </a:solidFill>
              </a:rPr>
              <a:t>T1 -&gt; 2 | T2 -&gt; 1 | T3 -&gt;2 | T4 -&gt;3 | T5 -&gt; 2</a:t>
            </a:r>
          </a:p>
          <a:p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D2B560-580B-43C3-87A5-E67A60638D2B}"/>
              </a:ext>
            </a:extLst>
          </p:cNvPr>
          <p:cNvSpPr txBox="1"/>
          <p:nvPr/>
        </p:nvSpPr>
        <p:spPr>
          <a:xfrm>
            <a:off x="4324700" y="5160485"/>
            <a:ext cx="4186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Adaptive Constraint</a:t>
            </a:r>
          </a:p>
          <a:p>
            <a:r>
              <a:rPr lang="en-US" dirty="0">
                <a:solidFill>
                  <a:schemeClr val="bg1"/>
                </a:solidFill>
              </a:rPr>
              <a:t>Min: 1</a:t>
            </a:r>
          </a:p>
          <a:p>
            <a:r>
              <a:rPr lang="en-US" dirty="0">
                <a:solidFill>
                  <a:schemeClr val="bg1"/>
                </a:solidFill>
              </a:rPr>
              <a:t>Max: 3</a:t>
            </a:r>
          </a:p>
          <a:p>
            <a:r>
              <a:rPr lang="en-US" dirty="0">
                <a:solidFill>
                  <a:schemeClr val="bg1"/>
                </a:solidFill>
              </a:rPr>
              <a:t>For each target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2376FF-94BF-4982-BFD5-935645133E16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  16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93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Paper Model (Defense) Verification</a:t>
            </a:r>
            <a:r>
              <a:rPr lang="tr-TR" dirty="0">
                <a:solidFill>
                  <a:srgbClr val="FFFFFF"/>
                </a:solidFill>
              </a:rPr>
              <a:t> Case 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The model proposed in the paper was rewritten and verified by me, and GA was added.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are</a:t>
            </a:r>
            <a:r>
              <a:rPr lang="tr-TR" dirty="0">
                <a:solidFill>
                  <a:srgbClr val="FFFFFF"/>
                </a:solidFill>
              </a:rPr>
              <a:t> 10 </a:t>
            </a:r>
            <a:r>
              <a:rPr lang="tr-TR" dirty="0" err="1">
                <a:solidFill>
                  <a:srgbClr val="FFFFFF"/>
                </a:solidFill>
              </a:rPr>
              <a:t>missiles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5 </a:t>
            </a:r>
            <a:r>
              <a:rPr lang="tr-TR" dirty="0" err="1">
                <a:solidFill>
                  <a:srgbClr val="FFFFFF"/>
                </a:solidFill>
              </a:rPr>
              <a:t>targets</a:t>
            </a:r>
            <a:r>
              <a:rPr lang="tr-TR" dirty="0">
                <a:solidFill>
                  <a:srgbClr val="FFFFFF"/>
                </a:solidFill>
              </a:rPr>
              <a:t> in Case 2.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B0275676-57E2-4E40-A92F-7EA92F2B8A72}"/>
              </a:ext>
            </a:extLst>
          </p:cNvPr>
          <p:cNvSpPr/>
          <p:nvPr/>
        </p:nvSpPr>
        <p:spPr>
          <a:xfrm>
            <a:off x="7690100" y="2046573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CASE </a:t>
            </a:r>
            <a:r>
              <a:rPr lang="tr-TR" dirty="0">
                <a:solidFill>
                  <a:srgbClr val="FFFFFF"/>
                </a:solidFill>
              </a:rPr>
              <a:t>2</a:t>
            </a:r>
            <a:r>
              <a:rPr dirty="0">
                <a:solidFill>
                  <a:srgbClr val="FFFFFF"/>
                </a:solidFill>
              </a:rPr>
              <a:t> (</a:t>
            </a:r>
            <a:r>
              <a:rPr lang="tr-TR" dirty="0">
                <a:solidFill>
                  <a:srgbClr val="FFFFFF"/>
                </a:solidFill>
              </a:rPr>
              <a:t>5</a:t>
            </a:r>
            <a:r>
              <a:rPr dirty="0">
                <a:solidFill>
                  <a:srgbClr val="FFFFFF"/>
                </a:solidFill>
              </a:rPr>
              <a:t> Targets) - ADAPTIVE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83EC987-90C9-4863-B459-98620513C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555639"/>
              </p:ext>
            </p:extLst>
          </p:nvPr>
        </p:nvGraphicFramePr>
        <p:xfrm>
          <a:off x="7690100" y="2412333"/>
          <a:ext cx="2999232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03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lang="tr-TR" dirty="0" err="1"/>
                        <a:t>Paper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Result</a:t>
                      </a:r>
                      <a:endParaRPr dirty="0"/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9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lang="tr-TR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dirty="0" err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lang="tr-TR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</a:t>
                      </a: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5407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0.2672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621FFC98-6D35-41C6-B672-88B4704B782C}"/>
              </a:ext>
            </a:extLst>
          </p:cNvPr>
          <p:cNvSpPr/>
          <p:nvPr/>
        </p:nvSpPr>
        <p:spPr>
          <a:xfrm>
            <a:off x="1394654" y="2046573"/>
            <a:ext cx="2999233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CASE </a:t>
            </a:r>
            <a:r>
              <a:rPr lang="tr-TR" dirty="0">
                <a:solidFill>
                  <a:srgbClr val="FFFFFF"/>
                </a:solidFill>
              </a:rPr>
              <a:t>2</a:t>
            </a:r>
            <a:r>
              <a:rPr dirty="0">
                <a:solidFill>
                  <a:srgbClr val="FFFFFF"/>
                </a:solidFill>
              </a:rPr>
              <a:t> (</a:t>
            </a:r>
            <a:r>
              <a:rPr lang="tr-TR" dirty="0">
                <a:solidFill>
                  <a:srgbClr val="FFFFFF"/>
                </a:solidFill>
              </a:rPr>
              <a:t>5</a:t>
            </a:r>
            <a:r>
              <a:rPr dirty="0">
                <a:solidFill>
                  <a:srgbClr val="FFFFFF"/>
                </a:solidFill>
              </a:rPr>
              <a:t> Targets) - FIXED</a:t>
            </a:r>
          </a:p>
        </p:txBody>
      </p:sp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929D5527-DED4-49F1-9733-0A7A7FD18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4660"/>
              </p:ext>
            </p:extLst>
          </p:nvPr>
        </p:nvGraphicFramePr>
        <p:xfrm>
          <a:off x="1394655" y="2412333"/>
          <a:ext cx="2999233" cy="69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88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lang="tr-TR" dirty="0" err="1"/>
                        <a:t>Paper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Result</a:t>
                      </a:r>
                      <a:endParaRPr dirty="0"/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3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0.5939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0.3153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Resim 7">
            <a:extLst>
              <a:ext uri="{FF2B5EF4-FFF2-40B4-BE49-F238E27FC236}">
                <a16:creationId xmlns:a16="http://schemas.microsoft.com/office/drawing/2014/main" id="{0645AE11-576F-449E-A1A4-1EBDDCB38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5" y="3686435"/>
            <a:ext cx="2791215" cy="2819139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4F62859B-A1E4-495E-9D5B-8635121EFB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726"/>
          <a:stretch/>
        </p:blipFill>
        <p:spPr>
          <a:xfrm>
            <a:off x="3002283" y="3686435"/>
            <a:ext cx="2796758" cy="281913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72D07C60-2485-4A80-AF3D-DF9E17DA5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958" y="3678878"/>
            <a:ext cx="2791215" cy="2826696"/>
          </a:xfrm>
          <a:prstGeom prst="rect">
            <a:avLst/>
          </a:prstGeom>
        </p:spPr>
      </p:pic>
      <p:pic>
        <p:nvPicPr>
          <p:cNvPr id="25" name="Resim 24">
            <a:extLst>
              <a:ext uri="{FF2B5EF4-FFF2-40B4-BE49-F238E27FC236}">
                <a16:creationId xmlns:a16="http://schemas.microsoft.com/office/drawing/2014/main" id="{5FDC1DE7-E0EB-461C-BA03-D1D3D6E3BB6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432"/>
          <a:stretch/>
        </p:blipFill>
        <p:spPr>
          <a:xfrm>
            <a:off x="9294761" y="3678878"/>
            <a:ext cx="2789142" cy="28162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85D226-61F4-4054-94E1-3F79743FE0C3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17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5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en-US" dirty="0">
                <a:solidFill>
                  <a:srgbClr val="FFFFFF"/>
                </a:solidFill>
              </a:rPr>
              <a:t>Case 2 50 Iterations ABC and PSO Comparison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5CA62E8-DF94-40E0-91AB-AEB9EDC00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899537"/>
              </p:ext>
            </p:extLst>
          </p:nvPr>
        </p:nvGraphicFramePr>
        <p:xfrm>
          <a:off x="6583681" y="1764544"/>
          <a:ext cx="5303519" cy="222562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25311">
                  <a:extLst>
                    <a:ext uri="{9D8B030D-6E8A-4147-A177-3AD203B41FA5}">
                      <a16:colId xmlns:a16="http://schemas.microsoft.com/office/drawing/2014/main" val="156157506"/>
                    </a:ext>
                  </a:extLst>
                </a:gridCol>
                <a:gridCol w="997851">
                  <a:extLst>
                    <a:ext uri="{9D8B030D-6E8A-4147-A177-3AD203B41FA5}">
                      <a16:colId xmlns:a16="http://schemas.microsoft.com/office/drawing/2014/main" val="3824876999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946803748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2268552773"/>
                    </a:ext>
                  </a:extLst>
                </a:gridCol>
                <a:gridCol w="1057195">
                  <a:extLst>
                    <a:ext uri="{9D8B030D-6E8A-4147-A177-3AD203B41FA5}">
                      <a16:colId xmlns:a16="http://schemas.microsoft.com/office/drawing/2014/main" val="3404765701"/>
                    </a:ext>
                  </a:extLst>
                </a:gridCol>
              </a:tblGrid>
              <a:tr h="583770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2530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Number of convergence cases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7015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 convergence time(s)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0.37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0.27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0.01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0436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EB6B318-E37D-4134-9B9F-898CA455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2120"/>
            <a:ext cx="5303519" cy="222562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FB45C8-F6E2-459E-B290-F152ED931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985305"/>
              </p:ext>
            </p:extLst>
          </p:nvPr>
        </p:nvGraphicFramePr>
        <p:xfrm>
          <a:off x="6583680" y="4408531"/>
          <a:ext cx="5303519" cy="222562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25311">
                  <a:extLst>
                    <a:ext uri="{9D8B030D-6E8A-4147-A177-3AD203B41FA5}">
                      <a16:colId xmlns:a16="http://schemas.microsoft.com/office/drawing/2014/main" val="156157506"/>
                    </a:ext>
                  </a:extLst>
                </a:gridCol>
                <a:gridCol w="997851">
                  <a:extLst>
                    <a:ext uri="{9D8B030D-6E8A-4147-A177-3AD203B41FA5}">
                      <a16:colId xmlns:a16="http://schemas.microsoft.com/office/drawing/2014/main" val="3824876999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946803748"/>
                    </a:ext>
                  </a:extLst>
                </a:gridCol>
                <a:gridCol w="1061581">
                  <a:extLst>
                    <a:ext uri="{9D8B030D-6E8A-4147-A177-3AD203B41FA5}">
                      <a16:colId xmlns:a16="http://schemas.microsoft.com/office/drawing/2014/main" val="2268552773"/>
                    </a:ext>
                  </a:extLst>
                </a:gridCol>
                <a:gridCol w="1057195">
                  <a:extLst>
                    <a:ext uri="{9D8B030D-6E8A-4147-A177-3AD203B41FA5}">
                      <a16:colId xmlns:a16="http://schemas.microsoft.com/office/drawing/2014/main" val="3404765701"/>
                    </a:ext>
                  </a:extLst>
                </a:gridCol>
              </a:tblGrid>
              <a:tr h="583770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Index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Adaptive 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ABC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Fixed </a:t>
                      </a:r>
                    </a:p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PSO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62530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Number of convergence cases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34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870159"/>
                  </a:ext>
                </a:extLst>
              </a:tr>
              <a:tr h="820926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Average convergence time(s)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0.05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0.06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0.31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0.61</a:t>
                      </a:r>
                      <a:endParaRPr lang="tr-TR" sz="13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043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A2E2C6-4A49-41C1-AE6C-91E63FF3D216}"/>
              </a:ext>
            </a:extLst>
          </p:cNvPr>
          <p:cNvSpPr txBox="1"/>
          <p:nvPr/>
        </p:nvSpPr>
        <p:spPr>
          <a:xfrm>
            <a:off x="6583681" y="1378934"/>
            <a:ext cx="385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Normal(Standard) PSO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4E99C-E16F-4F76-ACA5-B2FE494865E9}"/>
              </a:ext>
            </a:extLst>
          </p:cNvPr>
          <p:cNvSpPr txBox="1"/>
          <p:nvPr/>
        </p:nvSpPr>
        <p:spPr>
          <a:xfrm>
            <a:off x="6583680" y="4013778"/>
            <a:ext cx="3851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Hybrid PSO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B79CE-8CC8-4E7E-ACAF-1627EE2900C4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18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710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dirty="0" err="1">
                <a:solidFill>
                  <a:srgbClr val="FFFFFF"/>
                </a:solidFill>
              </a:rPr>
              <a:t>Additional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Comparisions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for</a:t>
            </a:r>
            <a:r>
              <a:rPr lang="tr-TR" dirty="0">
                <a:solidFill>
                  <a:srgbClr val="FFFFFF"/>
                </a:solidFill>
              </a:rPr>
              <a:t> Case 1 (3 </a:t>
            </a:r>
            <a:r>
              <a:rPr lang="tr-TR" dirty="0" err="1">
                <a:solidFill>
                  <a:srgbClr val="FFFFFF"/>
                </a:solidFill>
              </a:rPr>
              <a:t>targets</a:t>
            </a:r>
            <a:r>
              <a:rPr lang="tr-TR" dirty="0">
                <a:solidFill>
                  <a:srgbClr val="FFFFFF"/>
                </a:solidFill>
              </a:rPr>
              <a:t>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tr-TR" dirty="0">
                <a:solidFill>
                  <a:srgbClr val="FFFFFF"/>
                </a:solidFill>
              </a:rPr>
              <a:t>ABC, PSO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also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Genetic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Algorithm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used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whether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they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reach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optimum </a:t>
            </a:r>
            <a:r>
              <a:rPr lang="tr-TR" dirty="0" err="1">
                <a:solidFill>
                  <a:srgbClr val="FFFFFF"/>
                </a:solidFill>
              </a:rPr>
              <a:t>cost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value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9923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CASE 1 (3 Targets) - FIXED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11336"/>
              </p:ext>
            </p:extLst>
          </p:nvPr>
        </p:nvGraphicFramePr>
        <p:xfrm>
          <a:off x="731520" y="2194560"/>
          <a:ext cx="40214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</a:t>
                      </a: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1252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0.1252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0.1252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237970"/>
            <a:ext cx="3328415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CASE 1 (3 Targets) - ADAPTIVE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054819"/>
              </p:ext>
            </p:extLst>
          </p:nvPr>
        </p:nvGraphicFramePr>
        <p:xfrm>
          <a:off x="731520" y="4603730"/>
          <a:ext cx="40214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0.079</a:t>
                      </a:r>
                      <a:r>
                        <a:rPr lang="tr-TR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Resim 14">
            <a:extLst>
              <a:ext uri="{FF2B5EF4-FFF2-40B4-BE49-F238E27FC236}">
                <a16:creationId xmlns:a16="http://schemas.microsoft.com/office/drawing/2014/main" id="{8E1178AE-622E-404C-BC8A-F2F63484F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782" y="4237971"/>
            <a:ext cx="5843698" cy="234571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1DB8FEA2-E839-456A-BB51-1942E5343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782" y="1681221"/>
            <a:ext cx="5843698" cy="2345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F9370B-E36A-40E7-BB2F-DA833804997D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19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dirty="0" err="1">
                <a:solidFill>
                  <a:srgbClr val="FFFFFF"/>
                </a:solidFill>
              </a:rPr>
              <a:t>Additional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Comparisions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for</a:t>
            </a:r>
            <a:r>
              <a:rPr lang="tr-TR" dirty="0">
                <a:solidFill>
                  <a:srgbClr val="FFFFFF"/>
                </a:solidFill>
              </a:rPr>
              <a:t> Case 2 (5 </a:t>
            </a:r>
            <a:r>
              <a:rPr lang="tr-TR" dirty="0" err="1">
                <a:solidFill>
                  <a:srgbClr val="FFFFFF"/>
                </a:solidFill>
              </a:rPr>
              <a:t>targets</a:t>
            </a:r>
            <a:r>
              <a:rPr lang="tr-TR" dirty="0">
                <a:solidFill>
                  <a:srgbClr val="FFFFFF"/>
                </a:solidFill>
              </a:rPr>
              <a:t>)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tr-TR" dirty="0">
                <a:solidFill>
                  <a:srgbClr val="FFFFFF"/>
                </a:solidFill>
              </a:rPr>
              <a:t>ABC, PSO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also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Genetic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Algorithm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used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whether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they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reach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optimum </a:t>
            </a:r>
            <a:r>
              <a:rPr lang="tr-TR" dirty="0" err="1">
                <a:solidFill>
                  <a:srgbClr val="FFFFFF"/>
                </a:solidFill>
              </a:rPr>
              <a:t>cost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value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D2992914-0810-40C3-9A40-0C9CD1FAE899}"/>
              </a:ext>
            </a:extLst>
          </p:cNvPr>
          <p:cNvSpPr/>
          <p:nvPr/>
        </p:nvSpPr>
        <p:spPr>
          <a:xfrm>
            <a:off x="731520" y="1887880"/>
            <a:ext cx="2568511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CASE 2 (5 Targets) - FIXED</a:t>
            </a:r>
          </a:p>
        </p:txBody>
      </p:sp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CB0A6881-8DDC-4787-8280-E24AA1E48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281033"/>
              </p:ext>
            </p:extLst>
          </p:nvPr>
        </p:nvGraphicFramePr>
        <p:xfrm>
          <a:off x="731520" y="2254562"/>
          <a:ext cx="40214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dirty="0"/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0.5939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6643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Local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7FD391F5-7622-4AC2-8DB6-00092494B6E5}"/>
              </a:ext>
            </a:extLst>
          </p:cNvPr>
          <p:cNvSpPr/>
          <p:nvPr/>
        </p:nvSpPr>
        <p:spPr>
          <a:xfrm>
            <a:off x="731520" y="4402908"/>
            <a:ext cx="2523809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CASE 2 (5 Targets) - ADAPTIVE</a:t>
            </a:r>
          </a:p>
        </p:txBody>
      </p:sp>
      <p:graphicFrame>
        <p:nvGraphicFramePr>
          <p:cNvPr id="16" name="Table 12">
            <a:extLst>
              <a:ext uri="{FF2B5EF4-FFF2-40B4-BE49-F238E27FC236}">
                <a16:creationId xmlns:a16="http://schemas.microsoft.com/office/drawing/2014/main" id="{3387E72D-7DEF-46A2-8D56-4B650E87C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6951"/>
              </p:ext>
            </p:extLst>
          </p:nvPr>
        </p:nvGraphicFramePr>
        <p:xfrm>
          <a:off x="731520" y="4768668"/>
          <a:ext cx="40214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0.5407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0.5407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chemeClr val="bg1"/>
                          </a:solidFill>
                        </a:rPr>
                        <a:t>0.6129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chemeClr val="bg1"/>
                          </a:solidFill>
                        </a:rPr>
                        <a:t>Local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Resim 18">
            <a:extLst>
              <a:ext uri="{FF2B5EF4-FFF2-40B4-BE49-F238E27FC236}">
                <a16:creationId xmlns:a16="http://schemas.microsoft.com/office/drawing/2014/main" id="{B471F644-F754-4372-BC1E-9D83C314B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782" y="4237969"/>
            <a:ext cx="5843698" cy="2345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A63D3B-496A-41AD-ADFA-F5DE95A77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783" y="1740097"/>
            <a:ext cx="5843698" cy="23457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4F283C-3313-479F-9A7F-FF477B2EFAFE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20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899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lang="tr-TR" dirty="0" err="1">
                <a:solidFill>
                  <a:srgbClr val="FFFFFF"/>
                </a:solidFill>
              </a:rPr>
              <a:t>Additional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Comparisions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for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Convergence</a:t>
            </a:r>
            <a:r>
              <a:rPr lang="tr-TR" dirty="0">
                <a:solidFill>
                  <a:srgbClr val="FFFFFF"/>
                </a:solidFill>
              </a:rPr>
              <a:t> Times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tr-TR" dirty="0">
                <a:solidFill>
                  <a:srgbClr val="FFFFFF"/>
                </a:solidFill>
              </a:rPr>
              <a:t>ABC, PSO </a:t>
            </a:r>
            <a:r>
              <a:rPr lang="tr-TR" dirty="0" err="1">
                <a:solidFill>
                  <a:srgbClr val="FFFFFF"/>
                </a:solidFill>
              </a:rPr>
              <a:t>and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also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Genetic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Algorithm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were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used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to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compare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the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convergence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times</a:t>
            </a:r>
            <a:r>
              <a:rPr lang="tr-TR" dirty="0">
                <a:solidFill>
                  <a:srgbClr val="FFFFFF"/>
                </a:solidFill>
              </a:rPr>
              <a:t>/</a:t>
            </a:r>
            <a:r>
              <a:rPr lang="tr-TR" dirty="0" err="1">
                <a:solidFill>
                  <a:srgbClr val="FFFFFF"/>
                </a:solidFill>
              </a:rPr>
              <a:t>iterations</a:t>
            </a:r>
            <a:r>
              <a:rPr lang="tr-TR" dirty="0">
                <a:solidFill>
                  <a:srgbClr val="FFFFFF"/>
                </a:solidFill>
              </a:rPr>
              <a:t>.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D6418C36-908D-4EF1-BE6E-0A2C0EC5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71" y="2045137"/>
            <a:ext cx="3857119" cy="3723378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F6FCF4C4-8FA5-4CE7-B2D3-ED4D9A146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440" y="2045137"/>
            <a:ext cx="3857119" cy="3723378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96319409-476A-4708-9378-AE1DE7A15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109" y="2045137"/>
            <a:ext cx="3857119" cy="37233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4A8FA0-1923-4CC3-9DFD-243CA21C4736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21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115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784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Our </a:t>
            </a:r>
            <a:r>
              <a:rPr lang="tr-TR" dirty="0" err="1">
                <a:solidFill>
                  <a:srgbClr val="FFFFFF"/>
                </a:solidFill>
              </a:rPr>
              <a:t>Another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Original Contribution: Transition to the Attack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0357"/>
            <a:ext cx="548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Model Transition: Defense (interception) → Attack scenario.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Addition of Decoys: 5 decoy targets were added alongside real missiles.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Saturation: Decoys engage the air defense system, increasing the penetration probability of missiles.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● '0' State: The option of not assigning to a target was added.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754880" cy="1188720"/>
          </a:xfrm>
          <a:prstGeom prst="roundRect">
            <a:avLst>
              <a:gd name="adj" fmla="val 5000"/>
            </a:avLst>
          </a:prstGeom>
          <a:solidFill>
            <a:srgbClr val="1A1535"/>
          </a:solidFill>
          <a:ln w="12700">
            <a:solidFill>
              <a:srgbClr val="3D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0" y="1920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Penetration Probability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78BFA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Ppen = Pmin + (Pmax − Pmin) × (1 − e^(−λ·Nj))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32918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Symbol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Nj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number of decoys going to j-th target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λ (lambda)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Saturation coefficient = 0.5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Pmin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Penetration without Decoy (base)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Pmax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Penetration at full saturation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F863252-25FE-4EFB-8F8D-8EC6AD2EF12E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22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Added Operational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Budget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The total cost of missiles and decoys cannot exceed the operational budget (B=100).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65760" cy="3657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Compatibility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If Ci,j = 0, the i-th missile cannot physically be assigned to the j-th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65760" cy="3657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Decoy Logic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Assigning a decoy to a target without assigning a real missile is a waste and is penalized.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83479"/>
            <a:ext cx="36576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Salvo Firing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2577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The Tgo difference of missiles heading to the same target must be less than ε.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384803"/>
              </p:ext>
            </p:extLst>
          </p:nvPr>
        </p:nvGraphicFramePr>
        <p:xfrm>
          <a:off x="6858000" y="1828800"/>
          <a:ext cx="4754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Penalty Type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Coefficient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Qj (Fixed Grouping)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Light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Si (Multiple Assignment)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Light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Uj / Lj (Adaptive)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0.1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Light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w_heavy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Decoy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, Comp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atibility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Heavy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w_light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 (Salvo, 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Budget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9F4AB28-13FB-4A0C-8C5B-D2E273A8552C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23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Mathematical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A1535"/>
          </a:solidFill>
          <a:ln w="12700">
            <a:solidFill>
              <a:srgbClr val="3D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78BFA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OBJECTIVE FUNCTION (To be Minimized)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1F5F9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min J = Σ Vj × Π (1 − P_succ(i,j) × Xi,j)  +  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035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2D3EE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Individual Success Probability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1F5F9"/>
                </a:solidFill>
                <a:latin typeface="Consolas"/>
              </a:defRPr>
            </a:pPr>
            <a:r>
              <a:rPr dirty="0" err="1">
                <a:solidFill>
                  <a:srgbClr val="FFFFFF"/>
                </a:solidFill>
              </a:rPr>
              <a:t>P_succ</a:t>
            </a:r>
            <a:r>
              <a:rPr dirty="0">
                <a:solidFill>
                  <a:srgbClr val="FFFFFF"/>
                </a:solidFill>
              </a:rPr>
              <a:t>(</a:t>
            </a:r>
            <a:r>
              <a:rPr dirty="0" err="1">
                <a:solidFill>
                  <a:srgbClr val="FFFFFF"/>
                </a:solidFill>
              </a:rPr>
              <a:t>i,j</a:t>
            </a:r>
            <a:r>
              <a:rPr dirty="0">
                <a:solidFill>
                  <a:srgbClr val="FFFFFF"/>
                </a:solidFill>
              </a:rPr>
              <a:t>) = </a:t>
            </a:r>
            <a:r>
              <a:rPr dirty="0" err="1">
                <a:solidFill>
                  <a:srgbClr val="FFFFFF"/>
                </a:solidFill>
              </a:rPr>
              <a:t>P_pen</a:t>
            </a:r>
            <a:r>
              <a:rPr dirty="0">
                <a:solidFill>
                  <a:srgbClr val="FFFFFF"/>
                </a:solidFill>
              </a:rPr>
              <a:t>(j) × </a:t>
            </a:r>
            <a:r>
              <a:rPr dirty="0" err="1">
                <a:solidFill>
                  <a:srgbClr val="FFFFFF"/>
                </a:solidFill>
              </a:rPr>
              <a:t>P_hit</a:t>
            </a:r>
            <a:r>
              <a:rPr dirty="0">
                <a:solidFill>
                  <a:srgbClr val="FFFFFF"/>
                </a:solidFill>
              </a:rPr>
              <a:t>(</a:t>
            </a:r>
            <a:r>
              <a:rPr dirty="0" err="1">
                <a:solidFill>
                  <a:srgbClr val="FFFFFF"/>
                </a:solidFill>
              </a:rPr>
              <a:t>i,j</a:t>
            </a:r>
            <a:r>
              <a:rPr dirty="0">
                <a:solidFill>
                  <a:srgbClr val="FFFFFF"/>
                </a:solidFill>
              </a:rPr>
              <a:t>) × </a:t>
            </a:r>
            <a:r>
              <a:rPr dirty="0" err="1">
                <a:solidFill>
                  <a:srgbClr val="FFFFFF"/>
                </a:solidFill>
              </a:rPr>
              <a:t>P_kill</a:t>
            </a:r>
            <a:r>
              <a:rPr dirty="0">
                <a:solidFill>
                  <a:srgbClr val="FFFFFF"/>
                </a:solidFill>
              </a:rPr>
              <a:t>(</a:t>
            </a:r>
            <a:r>
              <a:rPr dirty="0" err="1">
                <a:solidFill>
                  <a:srgbClr val="FFFFFF"/>
                </a:solidFill>
              </a:rPr>
              <a:t>i,j</a:t>
            </a:r>
            <a:r>
              <a:rPr dirty="0">
                <a:solidFill>
                  <a:srgbClr val="FFFFFF"/>
                </a:solidFill>
              </a:rPr>
              <a:t>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537669"/>
              </p:ext>
            </p:extLst>
          </p:nvPr>
        </p:nvGraphicFramePr>
        <p:xfrm>
          <a:off x="731520" y="438912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Symbol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Example Value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Vj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importance/threat value of j-th target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0.85, 0.72, 0.80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Xi,j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assignment of i-th missile to j-th target (0/1)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Optimized by algorithm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P_hit(i,j)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Kinematic hit probability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Between 0.0 - 1.0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 err="1">
                          <a:solidFill>
                            <a:srgbClr val="FFFFFF"/>
                          </a:solidFill>
                        </a:rPr>
                        <a:t>P_kill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dirty="0" err="1">
                          <a:solidFill>
                            <a:srgbClr val="FFFFFF"/>
                          </a:solidFill>
                        </a:rPr>
                        <a:t>i,j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Kill probability on hit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0.85 (fixed)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P_pen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(j)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Penetration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Between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Pmin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and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Pmax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(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Formule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given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on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the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previous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lang="tr-TR" dirty="0" err="1">
                          <a:solidFill>
                            <a:srgbClr val="FFFFFF"/>
                          </a:solidFill>
                        </a:rPr>
                        <a:t>page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6187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8BF7EBB-E869-4407-ABEB-FB318A2DC96B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24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822960"/>
            <a:ext cx="107289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Numerical Results (Attack Model) — Case 2 (5 Targets)</a:t>
            </a:r>
            <a:r>
              <a:rPr lang="en-US" dirty="0">
                <a:solidFill>
                  <a:srgbClr val="FFFFFF"/>
                </a:solidFill>
              </a:rPr>
              <a:t> - Fixed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19" y="4502264"/>
            <a:ext cx="1901952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FIXED GROUPING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183632"/>
              </p:ext>
            </p:extLst>
          </p:nvPr>
        </p:nvGraphicFramePr>
        <p:xfrm>
          <a:off x="731519" y="4868024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rPr dirty="0"/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2.8422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3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.0027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Local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1774" y="4773352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rPr>
                <a:solidFill>
                  <a:srgbClr val="FFFFFF"/>
                </a:solidFill>
              </a:rP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Figure 3: Case 2 Fixed Graph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Place image here</a:t>
            </a:r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E86BB8D2-8DE9-4296-A691-02507B3A9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4" y="4502264"/>
            <a:ext cx="5029200" cy="2295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805109-BA7B-490C-8AEE-4EC5A9E6C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1403919"/>
            <a:ext cx="10879456" cy="2743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BBF4F0-F419-4E67-B6FC-2279E88F0FE4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25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8" y="822960"/>
            <a:ext cx="111556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Numerical Results (Attack Model) — Case 2 (5 Targets)</a:t>
            </a:r>
            <a:r>
              <a:rPr lang="en-US" dirty="0">
                <a:solidFill>
                  <a:srgbClr val="FFFFFF"/>
                </a:solidFill>
              </a:rPr>
              <a:t> - Adaptive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3F5D3CA8-A09A-4002-BC58-D02DBECDEFE1}"/>
              </a:ext>
            </a:extLst>
          </p:cNvPr>
          <p:cNvSpPr/>
          <p:nvPr/>
        </p:nvSpPr>
        <p:spPr>
          <a:xfrm>
            <a:off x="733425" y="4453253"/>
            <a:ext cx="2121408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ADAPTIVE GROUPING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72C2AF-8155-488C-A5F1-CB5EC569B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721480"/>
              </p:ext>
            </p:extLst>
          </p:nvPr>
        </p:nvGraphicFramePr>
        <p:xfrm>
          <a:off x="733425" y="4819013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🐝 ABC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2.5720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🧬 GA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OPTIMUM ✅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🌀 PSO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2.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7226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Local Min ⚠️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07E3455F-D4CD-4B25-B251-EBD1A418F6FE}"/>
              </a:ext>
            </a:extLst>
          </p:cNvPr>
          <p:cNvSpPr/>
          <p:nvPr/>
        </p:nvSpPr>
        <p:spPr>
          <a:xfrm>
            <a:off x="6583680" y="448056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21A32"/>
          </a:solidFill>
          <a:ln w="19050">
            <a:solidFill>
              <a:srgbClr val="2D4A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/>
            </a:pPr>
            <a:r>
              <a:rPr dirty="0">
                <a:solidFill>
                  <a:srgbClr val="FFFFFF"/>
                </a:solidFill>
              </a:rPr>
              <a:t>📊</a:t>
            </a:r>
          </a:p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Figure 4: Case 2 Adaptive Graph</a:t>
            </a:r>
          </a:p>
          <a:p>
            <a:pPr algn="ctr">
              <a:defRPr sz="1000">
                <a:solidFill>
                  <a:srgbClr val="4A5A7A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Place image here</a:t>
            </a:r>
          </a:p>
        </p:txBody>
      </p:sp>
      <p:pic>
        <p:nvPicPr>
          <p:cNvPr id="14" name="Resim 11">
            <a:extLst>
              <a:ext uri="{FF2B5EF4-FFF2-40B4-BE49-F238E27FC236}">
                <a16:creationId xmlns:a16="http://schemas.microsoft.com/office/drawing/2014/main" id="{09FDCFA5-81AE-4EBA-AC4F-4DB8EE636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477328"/>
            <a:ext cx="5029200" cy="22990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7607BC-F8F7-44FF-B4A7-79698BB95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1446764"/>
            <a:ext cx="10879455" cy="27772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8CB84B-AE42-4F03-AD74-F1F68C319E20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26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528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Summary of All Results and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4385"/>
              </p:ext>
            </p:extLst>
          </p:nvPr>
        </p:nvGraphicFramePr>
        <p:xfrm>
          <a:off x="731520" y="1828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Attack Scenario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Grouping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ABC 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GA 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PSO Cost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PSO Difference (%)</a:t>
                      </a:r>
                    </a:p>
                  </a:txBody>
                  <a:tcPr anchor="ctr">
                    <a:solidFill>
                      <a:srgbClr val="1E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Case 1 (3 Targets)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1.1610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1.1610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1.35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35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+1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5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.7%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Case 1 (3 Targets)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Adaptive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0.8610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0.8610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0.9213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+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7.0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Case 2 (5 Targets)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Fixed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2.8422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3.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0027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+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5.64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>
                    <a:solidFill>
                      <a:srgbClr val="13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Case 2 (5 Targets)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Adaptive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2.5720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2.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7226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+</a:t>
                      </a:r>
                      <a:r>
                        <a:rPr lang="tr-TR" dirty="0">
                          <a:solidFill>
                            <a:srgbClr val="FFFFFF"/>
                          </a:solidFill>
                        </a:rPr>
                        <a:t>5.85</a:t>
                      </a:r>
                      <a:r>
                        <a:rPr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anchor="ctr"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427095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0F251E"/>
          </a:solidFill>
          <a:ln w="12700">
            <a:solidFill>
              <a:srgbClr val="1E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09975" y="4114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✅ Superiority of GA and ABC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9975" y="4480560"/>
            <a:ext cx="4663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>
                <a:solidFill>
                  <a:srgbClr val="FFFFFF"/>
                </a:solidFill>
              </a:rPr>
              <a:t>GA's Crossover and Mutation operators enabled escaping from the local minimum traps that PSO fell into.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Also</a:t>
            </a:r>
            <a:r>
              <a:rPr lang="tr-TR" dirty="0">
                <a:solidFill>
                  <a:srgbClr val="FFFFFF"/>
                </a:solidFill>
              </a:rPr>
              <a:t>, ABC </a:t>
            </a:r>
            <a:r>
              <a:rPr lang="tr-TR" dirty="0" err="1">
                <a:solidFill>
                  <a:srgbClr val="FFFFFF"/>
                </a:solidFill>
              </a:rPr>
              <a:t>uses</a:t>
            </a:r>
            <a:r>
              <a:rPr lang="tr-TR" dirty="0">
                <a:solidFill>
                  <a:srgbClr val="FFFFFF"/>
                </a:solidFill>
              </a:rPr>
              <a:t> an </a:t>
            </a:r>
            <a:r>
              <a:rPr lang="tr-TR" dirty="0" err="1">
                <a:solidFill>
                  <a:srgbClr val="FFFFFF"/>
                </a:solidFill>
              </a:rPr>
              <a:t>avoidance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mechanism</a:t>
            </a:r>
            <a:r>
              <a:rPr lang="tr-TR" dirty="0">
                <a:solidFill>
                  <a:srgbClr val="FFFFFF"/>
                </a:solidFill>
              </a:rPr>
              <a:t> f</a:t>
            </a:r>
            <a:r>
              <a:rPr lang="en-US" dirty="0">
                <a:solidFill>
                  <a:srgbClr val="FFFFFF"/>
                </a:solidFill>
              </a:rPr>
              <a:t>or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local</a:t>
            </a:r>
            <a:r>
              <a:rPr lang="tr-TR" dirty="0">
                <a:solidFill>
                  <a:srgbClr val="FFFFFF"/>
                </a:solidFill>
              </a:rPr>
              <a:t> </a:t>
            </a:r>
            <a:r>
              <a:rPr lang="tr-TR" dirty="0" err="1">
                <a:solidFill>
                  <a:srgbClr val="FFFFFF"/>
                </a:solidFill>
              </a:rPr>
              <a:t>mimimums</a:t>
            </a:r>
            <a:r>
              <a:rPr lang="tr-TR" dirty="0">
                <a:solidFill>
                  <a:srgbClr val="FFFF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They found the unique optimum in both Defense and Attack scenarios.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A74DC1-6DD8-4D56-BDA8-335D8831E0E4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27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685800"/>
            <a:ext cx="137160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1F5F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Future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Steps to evolve the system into more realistic warfare environments: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🚀 3-Axis (3D) Engagement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The current model considers targets in a 2D (x-y) plane.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Including the altitude (z) axis of missiles and targets in the equation.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Modeling how Pitch and Yaw angles affect the radar and Line of Sight.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Taking terrain and radar horizon into account</a:t>
            </a:r>
            <a:r>
              <a:rPr sz="800" dirty="0">
                <a:solidFill>
                  <a:srgbClr val="22D3EE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923C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🎯 Dynamic (Moving) Target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7548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Modeling scenarios where targets do not follow fixed routes but continuously maneuver.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In case the target performs an evasive maneuver after assignment, the algorithm re-assigns during flight (real-time).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dirty="0">
                <a:solidFill>
                  <a:schemeClr val="bg1"/>
                </a:solidFill>
              </a:rPr>
              <a:t>● For this, reducing the algorithm's execution time to millisecond levels (GPU parallelization, etc.).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8D94C-3490-400D-BF14-9D44CE736C81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lang="en-US" dirty="0">
                <a:solidFill>
                  <a:srgbClr val="FFFFFF"/>
                </a:solidFill>
              </a:rPr>
              <a:t>28</a:t>
            </a:r>
            <a:r>
              <a:rPr dirty="0">
                <a:solidFill>
                  <a:srgbClr val="FFFFFF"/>
                </a:solidFill>
              </a:rPr>
              <a:t> 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274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16 / 16</a:t>
            </a:r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A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0"/>
              </a:spcAft>
              <a:defRPr sz="4800" b="1">
                <a:solidFill>
                  <a:srgbClr val="3B82F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3000"/>
              </a:spcAft>
              <a:defRPr sz="20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9418320" cy="2011680"/>
          </a:xfrm>
          <a:prstGeom prst="roundRect">
            <a:avLst>
              <a:gd name="adj" fmla="val 5000"/>
            </a:avLst>
          </a:prstGeom>
          <a:solidFill>
            <a:srgbClr val="121E30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291840"/>
            <a:ext cx="8869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2D3EE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The defense model in the paper was verified; then expanded to a complex attack optimization model including decoys, budget constraints, and Genetic Algorithm support. GA and ABC outperformed PSO in all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0.86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BEST ATTACK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B82F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A78BFA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CONSTRAINT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4864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6203A"/>
          </a:solidFill>
          <a:ln w="12700">
            <a:solidFill>
              <a:srgbClr val="2A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5532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B923C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943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Consolas"/>
              </a:defRPr>
            </a:pPr>
            <a:r>
              <a:rPr>
                <a:solidFill>
                  <a:srgbClr val="FFFFFF"/>
                </a:solidFill>
              </a:rPr>
              <a:t>MATLAB 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52707B-0862-4412-8ADF-06D623AB51A8}"/>
              </a:ext>
            </a:extLst>
          </p:cNvPr>
          <p:cNvSpPr txBox="1"/>
          <p:nvPr/>
        </p:nvSpPr>
        <p:spPr>
          <a:xfrm>
            <a:off x="10515600" y="27432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 29 </a:t>
            </a:r>
            <a:r>
              <a:rPr dirty="0">
                <a:solidFill>
                  <a:srgbClr val="FFFFFF"/>
                </a:solidFill>
              </a:rPr>
              <a:t>/ </a:t>
            </a:r>
            <a:r>
              <a:rPr lang="en-US" dirty="0">
                <a:solidFill>
                  <a:srgbClr val="FFFFFF"/>
                </a:solidFill>
              </a:rPr>
              <a:t>29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D8298F4F-47F5-47F1-8D9E-E087F8A04024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1438</TotalTime>
  <Words>2468</Words>
  <Application>Microsoft Office PowerPoint</Application>
  <PresentationFormat>Widescreen</PresentationFormat>
  <Paragraphs>537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Resul Dursun (Tusaş - Türk Havacılık Ve Uzay Sanayi A.ş.)</dc:creator>
  <cp:keywords/>
  <dc:description>generated using python-pptx</dc:description>
  <cp:lastModifiedBy>Resul Dursun (Tusaş - Türk Havacılık Ve Uzay Sanayi A.ş.)</cp:lastModifiedBy>
  <cp:revision>131</cp:revision>
  <dcterms:created xsi:type="dcterms:W3CDTF">2013-01-27T09:14:16Z</dcterms:created>
  <dcterms:modified xsi:type="dcterms:W3CDTF">2026-07-17T06:45:27Z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eceb1255-8cfd-4288-b0ca-36d99f950830</vt:lpwstr>
  </property>
  <property fmtid="{D5CDD505-2E9C-101B-9397-08002B2CF9AE}" pid="3" name="bjClsUserRVM">
    <vt:lpwstr>[]</vt:lpwstr>
  </property>
  <property fmtid="{D5CDD505-2E9C-101B-9397-08002B2CF9AE}" pid="4" name="bjSaver">
    <vt:lpwstr>nAoW2D1JYLA+bEUF8tJJIpCQJWROCHsn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