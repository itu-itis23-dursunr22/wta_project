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25"/>
  </p:notesMasterIdLst>
  <p:handoutMasterIdLst>
    <p:handoutMasterId r:id="rId26"/>
  </p:handoutMasterIdLst>
  <p:sldIdLst>
    <p:sldId id="256" r:id="rId3"/>
    <p:sldId id="257" r:id="rId4"/>
    <p:sldId id="258" r:id="rId5"/>
    <p:sldId id="272" r:id="rId6"/>
    <p:sldId id="259" r:id="rId7"/>
    <p:sldId id="260" r:id="rId8"/>
    <p:sldId id="273" r:id="rId9"/>
    <p:sldId id="274" r:id="rId10"/>
    <p:sldId id="261" r:id="rId11"/>
    <p:sldId id="278" r:id="rId12"/>
    <p:sldId id="277" r:id="rId13"/>
    <p:sldId id="275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413F91-FB9D-475F-BA46-050756A4F07A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AEA3F-E71A-4753-9600-F3CD8D90C5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93297-0EDF-4E9D-ACE1-7439B158DF22}" type="datetimeFigureOut">
              <a:rPr lang="tr-TR" smtClean="0"/>
              <a:t>14.07.2026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EC6A2-A89D-4517-BF7F-4CB0DF296C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A79DA-52AE-4457-83C5-C995FCBCFB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3F639-139E-47CF-BA4C-43051DC905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783053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7C817-230A-46A4-AA58-F2E8FFD01BCE}" type="datetimeFigureOut">
              <a:rPr lang="tr-TR" smtClean="0"/>
              <a:t>14.07.2026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64BE8-36CB-413B-B4F2-C13999B812B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419322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510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6805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8199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9871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1550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7489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3738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1498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2581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4386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5308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3105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814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0689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1227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3203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78417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3970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213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3281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6107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929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01 / 16</a:t>
            </a:r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A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1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2121408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STAJ SONU SUNUMU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800" b="1">
                <a:solidFill>
                  <a:srgbClr val="F1F5F9"/>
                </a:solidFill>
                <a:latin typeface="Segoe UI"/>
              </a:defRPr>
            </a:pPr>
            <a:r>
              <a:t>Silah-Hedef Atama Modeli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3800" b="1">
                <a:solidFill>
                  <a:srgbClr val="3B82F6"/>
                </a:solidFill>
                <a:latin typeface="Segoe UI"/>
              </a:defRPr>
            </a:pPr>
            <a:r>
              <a:t>Üzerine Geliştirmeler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Çoklu Hedef Önleme ve Saldırı Odaklı WTA Modeli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ABC, PSO ve Genetik Algoritma ile Karşılaştırmalı Optimizasyon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ALGORITMA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79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FÜZE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A78BF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DECOY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B923C"/>
                </a:solidFill>
                <a:latin typeface="Segoe UI"/>
              </a:defRPr>
            </a:pPr>
            <a:r>
              <a:t>10K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İTERASYON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2D3E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KISIT TÜRÜ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02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Problemin Tanımı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D3EE"/>
                </a:solidFill>
                <a:latin typeface="Segoe UI"/>
              </a:defRPr>
            </a:pPr>
            <a:r>
              <a:t>Silah-Hedef Atama (Weapon-Target Assignment) Nedir?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 dirty="0">
                <a:solidFill>
                  <a:srgbClr val="3B82F6"/>
                </a:solidFill>
              </a:rPr>
              <a:t>● 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Silah-Hedef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Atama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 (WTA):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Eldeki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füzelerin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,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tehditlere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en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optimum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şekilde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atanmasıdır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 dirty="0">
                <a:solidFill>
                  <a:srgbClr val="3B82F6"/>
                </a:solidFill>
              </a:rPr>
              <a:t>● 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Orijinal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Senaryo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 (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Savunma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):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Bize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doğru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gelen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füzeleri</a:t>
            </a:r>
            <a:r>
              <a:rPr sz="1300" dirty="0">
                <a:solidFill>
                  <a:schemeClr val="bg1"/>
                </a:solidFill>
                <a:latin typeface="Segoe UI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kendi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füzelerimizle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durdurmak</a:t>
            </a:r>
            <a:r>
              <a:rPr sz="1300" dirty="0">
                <a:solidFill>
                  <a:schemeClr val="bg1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 dirty="0">
                <a:solidFill>
                  <a:srgbClr val="3B82F6"/>
                </a:solidFill>
              </a:rPr>
              <a:t>● 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Kinematik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Yaklaşım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: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Atama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sadece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sayısal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değil</a:t>
            </a:r>
            <a:r>
              <a:rPr sz="1300" dirty="0">
                <a:solidFill>
                  <a:schemeClr val="bg1"/>
                </a:solidFill>
                <a:latin typeface="Segoe UI"/>
              </a:rPr>
              <a:t>, x-y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uzayında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hedeflerin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pozisyonları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ve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vektörleri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hesaplanarak</a:t>
            </a:r>
            <a:r>
              <a:rPr sz="130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Segoe UI"/>
              </a:rPr>
              <a:t>yapılır</a:t>
            </a:r>
            <a:r>
              <a:rPr sz="1300" dirty="0">
                <a:solidFill>
                  <a:schemeClr val="bg1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rPr dirty="0"/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rPr dirty="0" err="1"/>
              <a:t>Makaledeki</a:t>
            </a:r>
            <a:r>
              <a:rPr dirty="0"/>
              <a:t> x-y </a:t>
            </a:r>
            <a:r>
              <a:rPr dirty="0" err="1"/>
              <a:t>ekseninde</a:t>
            </a:r>
            <a:r>
              <a:rPr dirty="0"/>
              <a:t> </a:t>
            </a:r>
            <a:r>
              <a:rPr dirty="0" err="1"/>
              <a:t>Atanma</a:t>
            </a:r>
            <a:r>
              <a:rPr dirty="0"/>
              <a:t> </a:t>
            </a:r>
            <a:r>
              <a:rPr dirty="0" err="1"/>
              <a:t>Görseli</a:t>
            </a:r>
            <a:endParaRPr dirty="0"/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rPr dirty="0" err="1"/>
              <a:t>Görseli</a:t>
            </a:r>
            <a:r>
              <a:rPr dirty="0"/>
              <a:t> </a:t>
            </a:r>
            <a:r>
              <a:rPr dirty="0" err="1"/>
              <a:t>buraya</a:t>
            </a:r>
            <a:r>
              <a:rPr dirty="0"/>
              <a:t> </a:t>
            </a:r>
            <a:r>
              <a:rPr dirty="0" err="1"/>
              <a:t>yerleştirin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1E4359-5BDA-4EA7-A37A-9EFBB06A4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558734"/>
            <a:ext cx="5486400" cy="2633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CAD6A3-C886-4F69-9786-D2F0C4F7D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992777"/>
            <a:ext cx="5486400" cy="24364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03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Neden Zor?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87171"/>
                </a:solidFill>
                <a:latin typeface="Segoe UI"/>
              </a:defRPr>
            </a:pPr>
            <a:r>
              <a:rPr dirty="0"/>
              <a:t>NP-</a:t>
            </a:r>
            <a:r>
              <a:rPr lang="en-US" dirty="0"/>
              <a:t>Hard</a:t>
            </a:r>
            <a:r>
              <a:rPr dirty="0"/>
              <a:t> </a:t>
            </a:r>
            <a:r>
              <a:rPr dirty="0" err="1"/>
              <a:t>Yapı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Kombinatoryal</a:t>
            </a:r>
            <a:r>
              <a:rPr dirty="0"/>
              <a:t> </a:t>
            </a:r>
            <a:r>
              <a:rPr dirty="0" err="1"/>
              <a:t>Patlama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87171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10 füze ve 5 hedef için olası atama sayısı: 5¹⁰ = 9.765.625 farklı kombinasyon.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87171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Decoy'lar eklenince (15 birimlik vektör): 6¹⁵ ≈ 470 milyar kombinasyon.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87171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Geleneksel yöntemler bu büyüklükte çöker.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87171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Bu yüzden </a:t>
            </a:r>
            <a:r>
              <a:rPr sz="1300" b="1">
                <a:solidFill>
                  <a:srgbClr val="F1F5F9"/>
                </a:solidFill>
                <a:latin typeface="Segoe UI"/>
              </a:rPr>
              <a:t>Sezgisel (Metaheuristic) Algoritmalar</a:t>
            </a:r>
            <a:r>
              <a:rPr sz="1300">
                <a:solidFill>
                  <a:srgbClr val="94A3B8"/>
                </a:solidFill>
                <a:latin typeface="Segoe UI"/>
              </a:rPr>
              <a:t> kullanılır.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Senaryo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Değişken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Çözüm Uzayı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Eski Model (Sadece Füze)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~10 milyon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Yeni Model (Füze+Decoy)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~470 milyar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Büyük Senaryo (50 birim)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~10³⁸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Kıyas: Evrendeki atom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~10⁸⁰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dirty="0"/>
              <a:t>05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881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2800" dirty="0" err="1"/>
              <a:t>Güdüm</a:t>
            </a:r>
            <a:r>
              <a:rPr lang="en-US" sz="2800" dirty="0"/>
              <a:t> </a:t>
            </a:r>
            <a:r>
              <a:rPr lang="en-US" sz="2800" dirty="0" err="1"/>
              <a:t>Kritik</a:t>
            </a:r>
            <a:r>
              <a:rPr lang="en-US" sz="2800" dirty="0"/>
              <a:t> </a:t>
            </a:r>
            <a:r>
              <a:rPr lang="en-US" sz="2800" dirty="0" err="1"/>
              <a:t>Parametreleri</a:t>
            </a:r>
            <a:r>
              <a:rPr lang="en-US" sz="2800" dirty="0"/>
              <a:t>: Miss Distance, Time-to-Go </a:t>
            </a:r>
            <a:r>
              <a:rPr lang="en-US" sz="2800" dirty="0" err="1"/>
              <a:t>ve</a:t>
            </a:r>
            <a:r>
              <a:rPr lang="en-US" sz="2800" dirty="0"/>
              <a:t> LOS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611086"/>
            <a:ext cx="530352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Miss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Distance</a:t>
            </a: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l-GR" sz="1400" dirty="0">
                <a:solidFill>
                  <a:schemeClr val="bg1"/>
                </a:solidFill>
              </a:rPr>
              <a:t>Δ</a:t>
            </a:r>
            <a:r>
              <a:rPr lang="en-US" sz="1400" dirty="0">
                <a:solidFill>
                  <a:schemeClr val="bg1"/>
                </a:solidFill>
              </a:rPr>
              <a:t>S</a:t>
            </a: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</a:p>
          <a:p>
            <a:endParaRPr lang="en-US" sz="13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Anlamı: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Füzenin uçuşu boyunca hedefe en çok yaklaştığı andaki aralarındaki minimum fiziksel mesafedir.</a:t>
            </a:r>
            <a:endParaRPr lang="en-US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Neden Minimize Edilmeli?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Bu değer ne kadar küçükse (sıfıra yakınsa), füzenin harp başlığının hedefi imha etme olasılığı (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Lethality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o kadar yüksek olur.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1300" dirty="0">
              <a:solidFill>
                <a:srgbClr val="94A3B8"/>
              </a:solidFill>
              <a:latin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EC167-35E2-4704-8AB1-E6F350552B16}"/>
              </a:ext>
            </a:extLst>
          </p:cNvPr>
          <p:cNvSpPr txBox="1"/>
          <p:nvPr/>
        </p:nvSpPr>
        <p:spPr>
          <a:xfrm>
            <a:off x="731520" y="3716357"/>
            <a:ext cx="530352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   Time-to-Go (</a:t>
            </a:r>
            <a:r>
              <a:rPr lang="en-US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tgo</a:t>
            </a: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</a:p>
          <a:p>
            <a:endParaRPr lang="en-US" sz="13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Anlamı: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Füzenin bulunduğu konumdan hedefi vuracağı ana kadar geçmesi beklenen tahmini süredir.</a:t>
            </a:r>
            <a:endParaRPr lang="en-US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Neden Minimize Edilmeli?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Kalan süre ne kadar az olursa, hedefin kaçınma manevrası (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evasive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maneuver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yapma veya elektronik karşı tedbir alma şansı o kadar azalır. Hedefe nefes aldırmamak için minimize edilir.</a:t>
            </a: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A19221-AC24-4E6D-836F-E2EE62BB5C0D}"/>
              </a:ext>
            </a:extLst>
          </p:cNvPr>
          <p:cNvSpPr txBox="1"/>
          <p:nvPr/>
        </p:nvSpPr>
        <p:spPr>
          <a:xfrm>
            <a:off x="6309360" y="1611086"/>
            <a:ext cx="53035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   LOS (Line of Sight):</a:t>
            </a:r>
          </a:p>
          <a:p>
            <a:endParaRPr lang="en-US" sz="13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Anlamı: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Füzenin burnu ile hedefi birleştiren hayali doğrudan çizgiye LOS denir. Bu çizginin uzaydaki dönme/değişim hızına LOS Rate (</a:t>
            </a:r>
            <a:r>
              <a:rPr lang="el-G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λ˙</a:t>
            </a:r>
            <a:r>
              <a:rPr lang="el-GR" sz="13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λ</a:t>
            </a:r>
            <a:r>
              <a:rPr lang="el-G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˙) 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denir.</a:t>
            </a:r>
            <a:endParaRPr lang="en-US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Neden Minimize Edilmeli?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Modern güdüm sistemleri (Orantısal Seyrüsefer -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Proportional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Navigation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her zaman 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 açısının değişim hızını sıfıra indirmeye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çalışır. Eğer uzayda hedefe bakış açınız değişmiyorsa, hedefle kesin çarpışma rotasındasınız demektir.</a:t>
            </a: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A2F854-F2F0-480E-B268-258192AFD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28503"/>
            <a:ext cx="5034501" cy="18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5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04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Literatürdeki Yaklaşım Türleri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📐  Geleneksel Yöntemler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Lagrange Relaxation, Exhaustive Search, Branch &amp; Bound. Küçük ölçekte doğru sonuç verir, büyük problemlerde çöker.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4D399"/>
                </a:solidFill>
                <a:latin typeface="Segoe UI"/>
              </a:defRPr>
            </a:pPr>
            <a:r>
              <a:t>🧬  Genetik Algoritmalar (GA)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Doğal seçilim ilhamıyla çalışır. Seçilim, Çaprazlama ve Mutasyon ile arama uzayını keşfeder.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2D3EE"/>
                </a:solidFill>
                <a:latin typeface="Segoe UI"/>
              </a:defRPr>
            </a:pPr>
            <a:r>
              <a:t>🐝  Yapay Arı Kolonisi (ABC)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Bal arılarının yiyecek arama davranışını taklit eder. Makalenin önerdiği ana algoritma.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06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B6"/>
                </a:solidFill>
                <a:latin typeface="Segoe UI"/>
              </a:defRPr>
            </a:pPr>
            <a:r>
              <a:t>🌀  Parçacık Sürüsü (PSO)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Kuş sürülerinin kolektif hareketini modeller. Sürekli uzayda çalışır, tamsayıya floor() ile uyarlanır.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05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Makalenin Önerdiği Çözüm Yaklaşımı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 dirty="0">
                <a:solidFill>
                  <a:srgbClr val="34D399"/>
                </a:solidFill>
              </a:rPr>
              <a:t>● 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Gruplama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Kısıtları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: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Bazı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hedeflere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gereğinden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fazla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mühimmat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yığılmasını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önler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 dirty="0">
                <a:solidFill>
                  <a:srgbClr val="34D399"/>
                </a:solidFill>
              </a:rPr>
              <a:t>● 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Ceza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1F5F9"/>
                </a:solidFill>
                <a:latin typeface="Segoe UI"/>
              </a:rPr>
              <a:t>Fonksiyonu</a:t>
            </a:r>
            <a:r>
              <a:rPr sz="1300" b="1" dirty="0">
                <a:solidFill>
                  <a:srgbClr val="F1F5F9"/>
                </a:solidFill>
                <a:latin typeface="Segoe UI"/>
              </a:rPr>
              <a:t> (Penalty):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Kısıtları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ihlal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eden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çözümlere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maliyet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fonksiyonunda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cezalar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94A3B8"/>
                </a:solidFill>
                <a:latin typeface="Segoe UI"/>
              </a:rPr>
              <a:t>eklenir</a:t>
            </a:r>
            <a:r>
              <a:rPr sz="1300" dirty="0">
                <a:solidFill>
                  <a:srgbClr val="94A3B8"/>
                </a:solidFill>
                <a:latin typeface="Segoe UI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82880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Özellik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Sabit (Fixed)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Adaptif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Atama Kuralı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Kesin sayı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Min–Max aralığı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Esneklik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Düşük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Yüksek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Örnek (Hedef 1)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Kesin 4 füze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1–4 arası füze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/>
                        <a:t>Ceza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Formülü</a:t>
                      </a:r>
                      <a:endParaRPr dirty="0"/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Qj · Gj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Uj·Ej + Lj·Fj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/>
                        <a:t>Çözüm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Uzayı</a:t>
                      </a:r>
                      <a:endParaRPr dirty="0"/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Dar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/>
                        <a:t>Geniş</a:t>
                      </a:r>
                      <a:endParaRPr dirty="0"/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05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tr-TR" sz="2800" dirty="0"/>
              <a:t>Kinematik İsabet Olasılığı (</a:t>
            </a:r>
            <a:r>
              <a:rPr lang="tr-TR" sz="2800" dirty="0" err="1"/>
              <a:t>P</a:t>
            </a:r>
            <a:r>
              <a:rPr lang="tr-TR" sz="2800" i="1" dirty="0" err="1"/>
              <a:t>ij</a:t>
            </a:r>
            <a:r>
              <a:rPr lang="tr-TR" sz="2800" dirty="0"/>
              <a:t>​) Nasıl Hesaplanır?</a:t>
            </a:r>
            <a:endParaRPr lang="en-US" sz="2800" dirty="0"/>
          </a:p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dirty="0"/>
              <a:t>-&gt;</a:t>
            </a:r>
            <a:r>
              <a:rPr lang="en-US" sz="2800" dirty="0"/>
              <a:t> </a:t>
            </a:r>
            <a:r>
              <a:rPr lang="tr-TR" sz="1300" dirty="0"/>
              <a:t>Makalenin Olasılık Fonksiyonu (Denklem 8, 9 ve 10)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94A3B8"/>
                </a:solidFill>
                <a:latin typeface="Segoe UI"/>
              </a:rPr>
              <a:t>Miss Distance: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94A3B8"/>
                </a:solidFill>
                <a:latin typeface="Segoe UI"/>
              </a:rPr>
              <a:t>Time-to-Go: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94A3B8"/>
                </a:solidFill>
                <a:latin typeface="Segoe UI"/>
              </a:rPr>
              <a:t>Line of Sight: </a:t>
            </a:r>
            <a:endParaRPr sz="1300" dirty="0">
              <a:solidFill>
                <a:srgbClr val="94A3B8"/>
              </a:solidFill>
              <a:latin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CC4C7-3FDF-45C0-9E54-28EB4D478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983" y="1724297"/>
            <a:ext cx="3675017" cy="11047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F7D43B-E547-4716-9801-6FA304D92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39" y="5327135"/>
            <a:ext cx="5364481" cy="695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32E82-A6FE-4F0B-8F2E-F7ED0179E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39" y="3103202"/>
            <a:ext cx="5363661" cy="18519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1DF8F6-5DB6-40CB-83CD-00FEC2B97BA0}"/>
              </a:ext>
            </a:extLst>
          </p:cNvPr>
          <p:cNvSpPr txBox="1"/>
          <p:nvPr/>
        </p:nvSpPr>
        <p:spPr>
          <a:xfrm>
            <a:off x="6352903" y="1724297"/>
            <a:ext cx="53035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Yapay zeka algoritmalarının kullandığı 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tr-TR" sz="1300" i="1" u="sng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ij</a:t>
            </a:r>
            <a:r>
              <a:rPr lang="en-US" sz="1300" i="1" u="sng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(i. füzenin j. hedefi vurma olasılığı), makaledeki 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Denklem (8)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uyarınca üç ayrı kinematik göstergenin negatif üstel (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negative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exponential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fonksiyonu olarak modellenmiştir</a:t>
            </a: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36A982-1FDC-415F-8F2F-3BDEA5739C56}"/>
              </a:ext>
            </a:extLst>
          </p:cNvPr>
          <p:cNvSpPr/>
          <p:nvPr/>
        </p:nvSpPr>
        <p:spPr>
          <a:xfrm>
            <a:off x="6352903" y="5353561"/>
            <a:ext cx="553429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Makale, bu üç göstergeyi birbirini dengeleyen ağırlıklarla (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weights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 </a:t>
            </a:r>
            <a:r>
              <a:rPr lang="el-GR" sz="13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β</a:t>
            </a:r>
            <a:r>
              <a:rPr lang="el-G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toplar ve nihai isabet olasılığını bulur: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C33E2-7973-406D-9921-722D631ACD03}"/>
              </a:ext>
            </a:extLst>
          </p:cNvPr>
          <p:cNvSpPr/>
          <p:nvPr/>
        </p:nvSpPr>
        <p:spPr>
          <a:xfrm>
            <a:off x="6352903" y="3429000"/>
            <a:ext cx="553429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 3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parametrenin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ayrı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ayrı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ortalama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değeri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alınır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Denklem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(8)’de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üs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içine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payda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olarak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yazılır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2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05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/>
              <a:t>ABC </a:t>
            </a:r>
            <a:r>
              <a:rPr lang="en-US" dirty="0" err="1"/>
              <a:t>Algoritması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2BFD0A-49C6-4DBD-ADB1-0874FCE80B5F}"/>
              </a:ext>
            </a:extLst>
          </p:cNvPr>
          <p:cNvSpPr txBox="1"/>
          <p:nvPr/>
        </p:nvSpPr>
        <p:spPr>
          <a:xfrm>
            <a:off x="323754" y="1582340"/>
            <a:ext cx="528456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</a:t>
            </a:r>
            <a:r>
              <a:rPr lang="tr-TR" altLang="tr-TR" sz="1300" b="1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İlklendirme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tr-TR" altLang="tr-TR" sz="1300" b="1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Initialization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tr-TR" altLang="tr-TR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 uzayında rastgele atama vektörleri (yiyecek kaynakları) oluşturulur.</a:t>
            </a:r>
            <a:endParaRPr lang="en-US" altLang="tr-TR" sz="1300" dirty="0">
              <a:solidFill>
                <a:srgbClr val="CCCCC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tr-TR" altLang="tr-TR" sz="1300" dirty="0">
              <a:solidFill>
                <a:srgbClr val="CCCCC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İşçi Arı Fazı (</a:t>
            </a:r>
            <a:r>
              <a:rPr lang="tr-TR" altLang="tr-TR" sz="1300" b="1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Employed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altLang="tr-TR" sz="1300" b="1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Bees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tr-TR" altLang="tr-TR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>
              <a:buFontTx/>
              <a:buChar char="•"/>
            </a:pP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 işçi arı kendi kaynağının (çözümünün) yakın komşuluğunda yeni bir çözüm üretir.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Yeni çözüm eskisinden iyiyse hafızaya alınır, kötüyse reddedilir (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Açgözlü Seçilim</a:t>
            </a: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en-US" altLang="tr-TR" sz="1300" dirty="0">
              <a:solidFill>
                <a:srgbClr val="CCCCC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tr-TR" altLang="tr-TR" sz="1300" dirty="0">
              <a:solidFill>
                <a:srgbClr val="CCCCC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Gözcü Arı Fazı (</a:t>
            </a:r>
            <a:r>
              <a:rPr lang="tr-TR" altLang="tr-TR" sz="1300" b="1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Onlooker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altLang="tr-TR" sz="1300" b="1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Bees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tr-TR" altLang="tr-TR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İşçi arılar bilgi paylaşır. Kalitesi (Maliyeti) en iyi olan çözümlere daha yüksek olasılıkla (Rulet Tekerleği) gözcü arı yollanır.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İyi çözümlerin etrafı daha derinlemesine (</a:t>
            </a:r>
            <a:r>
              <a:rPr lang="tr-TR" altLang="tr-TR" sz="1300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Exploitation</a:t>
            </a: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taranır.</a:t>
            </a:r>
            <a:endParaRPr lang="en-US" altLang="tr-TR" sz="1300" dirty="0">
              <a:solidFill>
                <a:srgbClr val="CCCCC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sz="1300" dirty="0">
              <a:solidFill>
                <a:srgbClr val="CCCCC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Kaşif Arı Fazı (</a:t>
            </a:r>
            <a:r>
              <a:rPr lang="tr-TR" altLang="tr-TR" sz="1300" b="1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Scout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altLang="tr-TR" sz="1300" b="1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Bees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tr-TR" altLang="tr-TR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Eğer bir çözüm </a:t>
            </a:r>
            <a:r>
              <a:rPr lang="en-US" altLang="tr-TR" sz="1300" b="1" i="1" u="sng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 = 100</a:t>
            </a:r>
            <a:r>
              <a:rPr lang="en-US" alt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altLang="tr-TR" sz="1300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iterasyon</a:t>
            </a: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boyunca hiç iyileşemezse, o çözüm </a:t>
            </a:r>
            <a:r>
              <a:rPr lang="tr-TR" altLang="tr-TR" sz="1300" b="1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terk edilir</a:t>
            </a: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Sürü yerel minimuma (</a:t>
            </a:r>
            <a:r>
              <a:rPr lang="tr-TR" altLang="tr-TR" sz="1300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</a:t>
            </a: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altLang="tr-TR" sz="1300" dirty="0" err="1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Minima</a:t>
            </a:r>
            <a:r>
              <a:rPr lang="tr-TR" altLang="tr-TR" sz="1300" dirty="0">
                <a:solidFill>
                  <a:srgbClr val="CCCCC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takılmasın diye, yerine uzayın bambaşka bir yerinden yepyeni rastgele bir çözüm (Kaşif) fırlatılır.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tr-TR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33A574-DDD9-4A49-A89E-35A8F89C7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642" y="548640"/>
            <a:ext cx="5029758" cy="571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4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06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Makale Modeli (Savunma) Doğrulaması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Makalenin önerdiği model tarafımca tekrar yazılıp doğrulanmış ve GA eklenmiştir.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99232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CASE 1 (3 Hedef) - FIXED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31881"/>
              </p:ext>
            </p:extLst>
          </p:nvPr>
        </p:nvGraphicFramePr>
        <p:xfrm>
          <a:off x="731520" y="219456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0.0849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0.0849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0.0849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1828800"/>
            <a:ext cx="3328415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CASE 1 (3 Hedef) - ADAPTIVE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892421"/>
              </p:ext>
            </p:extLst>
          </p:nvPr>
        </p:nvGraphicFramePr>
        <p:xfrm>
          <a:off x="6400800" y="219456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0.0794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Lokal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931920"/>
            <a:ext cx="2999232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CASE 2 (5 Hedef) - FIXED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173817"/>
              </p:ext>
            </p:extLst>
          </p:nvPr>
        </p:nvGraphicFramePr>
        <p:xfrm>
          <a:off x="731520" y="429768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0.5939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0.5939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0.7020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Lokal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0" y="3931920"/>
            <a:ext cx="3328415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CASE 2 (5 Hedef) - ADAPTIVE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111640"/>
              </p:ext>
            </p:extLst>
          </p:nvPr>
        </p:nvGraphicFramePr>
        <p:xfrm>
          <a:off x="6400800" y="429768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0.5407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0.5407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0.6129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Lokal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12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 err="1"/>
              <a:t>Atama</a:t>
            </a:r>
            <a:r>
              <a:rPr lang="en-US" dirty="0"/>
              <a:t> </a:t>
            </a:r>
            <a:r>
              <a:rPr lang="en-US" dirty="0" err="1"/>
              <a:t>Sonuçları</a:t>
            </a:r>
            <a:r>
              <a:rPr dirty="0"/>
              <a:t> — Case </a:t>
            </a:r>
            <a:r>
              <a:rPr lang="en-US" dirty="0"/>
              <a:t>2</a:t>
            </a:r>
            <a:r>
              <a:rPr dirty="0"/>
              <a:t> (</a:t>
            </a:r>
            <a:r>
              <a:rPr lang="en-US" dirty="0"/>
              <a:t>5</a:t>
            </a:r>
            <a:r>
              <a:rPr dirty="0"/>
              <a:t> </a:t>
            </a:r>
            <a:r>
              <a:rPr dirty="0" err="1"/>
              <a:t>Hedef</a:t>
            </a:r>
            <a:r>
              <a:rPr dirty="0"/>
              <a:t>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6114A3-716C-4BD2-B37C-49C02D71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6764"/>
            <a:ext cx="3300549" cy="49536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D748EC-AECF-4674-88FE-FE2AFA7EF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932" y="2357237"/>
            <a:ext cx="3439886" cy="2767403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DE5EE9-8592-4142-8352-A91FA6EA4257}"/>
              </a:ext>
            </a:extLst>
          </p:cNvPr>
          <p:cNvCxnSpPr/>
          <p:nvPr/>
        </p:nvCxnSpPr>
        <p:spPr>
          <a:xfrm flipV="1">
            <a:off x="7955281" y="2410450"/>
            <a:ext cx="487678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B0A35F-F687-4E57-944D-D820A6AFF374}"/>
              </a:ext>
            </a:extLst>
          </p:cNvPr>
          <p:cNvCxnSpPr/>
          <p:nvPr/>
        </p:nvCxnSpPr>
        <p:spPr>
          <a:xfrm>
            <a:off x="7955281" y="3923609"/>
            <a:ext cx="487678" cy="705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5C847E05-5789-4EA0-AEF8-80548B98C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422" y="3891515"/>
            <a:ext cx="3439886" cy="27605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46110D1-7618-47EE-B244-04ED2A5ED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9974" y="704088"/>
            <a:ext cx="3439886" cy="27674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A250802-72FC-4AC7-84E3-4984E1C752F3}"/>
              </a:ext>
            </a:extLst>
          </p:cNvPr>
          <p:cNvSpPr txBox="1"/>
          <p:nvPr/>
        </p:nvSpPr>
        <p:spPr>
          <a:xfrm>
            <a:off x="4222764" y="1531840"/>
            <a:ext cx="4186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Fixed Constraint</a:t>
            </a:r>
          </a:p>
          <a:p>
            <a:r>
              <a:rPr lang="en-US" dirty="0">
                <a:solidFill>
                  <a:schemeClr val="bg1"/>
                </a:solidFill>
              </a:rPr>
              <a:t>T1 -&gt; 2 | T2 -&gt; 1 | T3 -&gt;2 | T4 -&gt;3 | T5 -&gt; 2</a:t>
            </a:r>
          </a:p>
          <a:p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D2B560-580B-43C3-87A5-E67A60638D2B}"/>
              </a:ext>
            </a:extLst>
          </p:cNvPr>
          <p:cNvSpPr txBox="1"/>
          <p:nvPr/>
        </p:nvSpPr>
        <p:spPr>
          <a:xfrm>
            <a:off x="4222763" y="5271775"/>
            <a:ext cx="4186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Adaptive Constraint</a:t>
            </a:r>
          </a:p>
          <a:p>
            <a:r>
              <a:rPr lang="en-US" dirty="0">
                <a:solidFill>
                  <a:schemeClr val="bg1"/>
                </a:solidFill>
              </a:rPr>
              <a:t>Min: 1</a:t>
            </a:r>
          </a:p>
          <a:p>
            <a:r>
              <a:rPr lang="en-US" dirty="0">
                <a:solidFill>
                  <a:schemeClr val="bg1"/>
                </a:solidFill>
              </a:rPr>
              <a:t>Max: 3</a:t>
            </a:r>
          </a:p>
          <a:p>
            <a:r>
              <a:rPr lang="en-US" dirty="0">
                <a:solidFill>
                  <a:schemeClr val="bg1"/>
                </a:solidFill>
              </a:rPr>
              <a:t>For each target</a:t>
            </a:r>
          </a:p>
        </p:txBody>
      </p:sp>
    </p:spTree>
    <p:extLst>
      <p:ext uri="{BB962C8B-B14F-4D97-AF65-F5344CB8AC3E}">
        <p14:creationId xmlns:p14="http://schemas.microsoft.com/office/powerpoint/2010/main" val="355529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06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Makale Modeli (Savunma) Doğrulaması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Makalenin önerdiği model tarafımca tekrar yazılıp doğrulanmış ve GA eklenmiştir.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B3F32A-8579-49B7-B39B-5FA43318C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330" y="3931920"/>
            <a:ext cx="2884040" cy="1828800"/>
          </a:xfrm>
          <a:prstGeom prst="rect">
            <a:avLst/>
          </a:prstGeom>
        </p:spPr>
      </p:pic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B0275676-57E2-4E40-A92F-7EA92F2B8A72}"/>
              </a:ext>
            </a:extLst>
          </p:cNvPr>
          <p:cNvSpPr/>
          <p:nvPr/>
        </p:nvSpPr>
        <p:spPr>
          <a:xfrm>
            <a:off x="731520" y="1733006"/>
            <a:ext cx="2999233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CASE 1 (3 </a:t>
            </a:r>
            <a:r>
              <a:rPr dirty="0" err="1"/>
              <a:t>Hedef</a:t>
            </a:r>
            <a:r>
              <a:rPr dirty="0"/>
              <a:t>) - ADAPTIVE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83EC987-90C9-4863-B459-98620513C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397795"/>
              </p:ext>
            </p:extLst>
          </p:nvPr>
        </p:nvGraphicFramePr>
        <p:xfrm>
          <a:off x="731520" y="2098766"/>
          <a:ext cx="299923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0.0794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Lokal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1B8E5438-1F96-424B-BADF-38BEB945E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331" y="1733006"/>
            <a:ext cx="2884040" cy="18288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BE4433-A762-4A67-A92A-4921D5158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947" y="1733007"/>
            <a:ext cx="2850534" cy="18288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2EA63B1-DC76-4A32-B40A-285C59A69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9946" y="3849189"/>
            <a:ext cx="2850533" cy="1911531"/>
          </a:xfrm>
          <a:prstGeom prst="rect">
            <a:avLst/>
          </a:prstGeom>
        </p:spPr>
      </p:pic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99E950B6-F24D-48A7-B153-12BD25A43A7F}"/>
              </a:ext>
            </a:extLst>
          </p:cNvPr>
          <p:cNvSpPr/>
          <p:nvPr/>
        </p:nvSpPr>
        <p:spPr>
          <a:xfrm>
            <a:off x="731519" y="3931920"/>
            <a:ext cx="2999233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CASE 2 (5 Hedef) - FIXED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54DA365-FF6E-4E3A-8680-35DBB1E45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226976"/>
              </p:ext>
            </p:extLst>
          </p:nvPr>
        </p:nvGraphicFramePr>
        <p:xfrm>
          <a:off x="731520" y="4297680"/>
          <a:ext cx="299923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0.5939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0.5939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0.7020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Lokal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956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05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/>
              <a:t>Case 2 50 Iteration ABC </a:t>
            </a:r>
            <a:r>
              <a:rPr lang="en-US" dirty="0" err="1"/>
              <a:t>ve</a:t>
            </a:r>
            <a:r>
              <a:rPr lang="en-US" dirty="0"/>
              <a:t> PSO </a:t>
            </a:r>
            <a:r>
              <a:rPr lang="en-US" dirty="0" err="1"/>
              <a:t>Karşılaştırması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5CA62E8-DF94-40E0-91AB-AEB9EDC00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719"/>
              </p:ext>
            </p:extLst>
          </p:nvPr>
        </p:nvGraphicFramePr>
        <p:xfrm>
          <a:off x="6313714" y="2058995"/>
          <a:ext cx="5303519" cy="222562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61581">
                  <a:extLst>
                    <a:ext uri="{9D8B030D-6E8A-4147-A177-3AD203B41FA5}">
                      <a16:colId xmlns:a16="http://schemas.microsoft.com/office/drawing/2014/main" val="156157506"/>
                    </a:ext>
                  </a:extLst>
                </a:gridCol>
                <a:gridCol w="1061581">
                  <a:extLst>
                    <a:ext uri="{9D8B030D-6E8A-4147-A177-3AD203B41FA5}">
                      <a16:colId xmlns:a16="http://schemas.microsoft.com/office/drawing/2014/main" val="3824876999"/>
                    </a:ext>
                  </a:extLst>
                </a:gridCol>
                <a:gridCol w="1061581">
                  <a:extLst>
                    <a:ext uri="{9D8B030D-6E8A-4147-A177-3AD203B41FA5}">
                      <a16:colId xmlns:a16="http://schemas.microsoft.com/office/drawing/2014/main" val="946803748"/>
                    </a:ext>
                  </a:extLst>
                </a:gridCol>
                <a:gridCol w="1061581">
                  <a:extLst>
                    <a:ext uri="{9D8B030D-6E8A-4147-A177-3AD203B41FA5}">
                      <a16:colId xmlns:a16="http://schemas.microsoft.com/office/drawing/2014/main" val="2268552773"/>
                    </a:ext>
                  </a:extLst>
                </a:gridCol>
                <a:gridCol w="1057195">
                  <a:extLst>
                    <a:ext uri="{9D8B030D-6E8A-4147-A177-3AD203B41FA5}">
                      <a16:colId xmlns:a16="http://schemas.microsoft.com/office/drawing/2014/main" val="3404765701"/>
                    </a:ext>
                  </a:extLst>
                </a:gridCol>
              </a:tblGrid>
              <a:tr h="583770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Index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Adaptive ABC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Adaptive PSO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Fixed </a:t>
                      </a:r>
                    </a:p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ABC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Fixed </a:t>
                      </a:r>
                    </a:p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PSO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625309"/>
                  </a:ext>
                </a:extLst>
              </a:tr>
              <a:tr h="820926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Number of convergence cases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70159"/>
                  </a:ext>
                </a:extLst>
              </a:tr>
              <a:tr h="820926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Average convergence time(s)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0.05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0.23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0.33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0.01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40436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EB6B318-E37D-4134-9B9F-898CA455F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11" y="2058995"/>
            <a:ext cx="5303519" cy="222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10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07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Özgün Katkımız: Saldırı Modeline Geçiş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B923C"/>
                </a:solidFill>
              </a:rPr>
              <a:t>●  </a:t>
            </a:r>
            <a:r>
              <a:rPr sz="1300" b="1">
                <a:solidFill>
                  <a:srgbClr val="F1F5F9"/>
                </a:solidFill>
                <a:latin typeface="Segoe UI"/>
              </a:rPr>
              <a:t>Model Dönüşümü:</a:t>
            </a:r>
            <a:r>
              <a:rPr sz="1300">
                <a:solidFill>
                  <a:srgbClr val="94A3B8"/>
                </a:solidFill>
                <a:latin typeface="Segoe UI"/>
              </a:rPr>
              <a:t> Savunma (interception) → Saldırı (attack) senaryosu.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B923C"/>
                </a:solidFill>
              </a:rPr>
              <a:t>●  </a:t>
            </a:r>
            <a:r>
              <a:rPr sz="1300" b="1">
                <a:solidFill>
                  <a:srgbClr val="F1F5F9"/>
                </a:solidFill>
                <a:latin typeface="Segoe UI"/>
              </a:rPr>
              <a:t>Yanıltıcı (Decoy) Eklenmesi:</a:t>
            </a:r>
            <a:r>
              <a:rPr sz="1300">
                <a:solidFill>
                  <a:srgbClr val="94A3B8"/>
                </a:solidFill>
                <a:latin typeface="Segoe UI"/>
              </a:rPr>
              <a:t> Gerçek füzelerin yanına 5 adet sahte hedef eklendi.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B923C"/>
                </a:solidFill>
              </a:rPr>
              <a:t>●  </a:t>
            </a:r>
            <a:r>
              <a:rPr sz="1300" b="1">
                <a:solidFill>
                  <a:srgbClr val="F1F5F9"/>
                </a:solidFill>
                <a:latin typeface="Segoe UI"/>
              </a:rPr>
              <a:t>Doygunluk (Saturation):</a:t>
            </a:r>
            <a:r>
              <a:rPr sz="1300">
                <a:solidFill>
                  <a:srgbClr val="94A3B8"/>
                </a:solidFill>
                <a:latin typeface="Segoe UI"/>
              </a:rPr>
              <a:t> Decoy'lar hava savunma sistemini meşgul ederek füzelerin penetrasyon ihtimalini artırır.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B923C"/>
                </a:solidFill>
              </a:rPr>
              <a:t>●  </a:t>
            </a:r>
            <a:r>
              <a:rPr sz="1300" b="1">
                <a:solidFill>
                  <a:srgbClr val="F1F5F9"/>
                </a:solidFill>
                <a:latin typeface="Segoe UI"/>
              </a:rPr>
              <a:t>'0' Durumu:</a:t>
            </a:r>
            <a:r>
              <a:rPr sz="1300">
                <a:solidFill>
                  <a:srgbClr val="94A3B8"/>
                </a:solidFill>
                <a:latin typeface="Segoe UI"/>
              </a:rPr>
              <a:t> Hedefe atanmama seçeneği eklendi.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754880" cy="1188720"/>
          </a:xfrm>
          <a:prstGeom prst="roundRect">
            <a:avLst>
              <a:gd name="adj" fmla="val 5000"/>
            </a:avLst>
          </a:prstGeom>
          <a:solidFill>
            <a:srgbClr val="1A1535"/>
          </a:solidFill>
          <a:ln w="12700">
            <a:solidFill>
              <a:srgbClr val="3D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78BFA"/>
                </a:solidFill>
                <a:latin typeface="Segoe UI"/>
              </a:defRPr>
            </a:pPr>
            <a:r>
              <a:t>Penetrasyon Olasılığı Formülü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286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Consolas"/>
              </a:defRPr>
            </a:pPr>
            <a:r>
              <a:t>Ppen = Pmin + (Pmax − Pmin) × (1 − e^(−λ·Nj))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329184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Sembol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Açıklama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Nj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j. hedefe giden decoy sayısı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λ (lambda)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Doygunluk katsayısı = 0.5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Pmin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Decoy'suz penetrasyon (baz)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Pmax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Tam doygunlukta penetrasyon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08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Eklenen Operasyonel Kısıtlar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657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Segoe UI"/>
              </a:defRPr>
            </a:pPr>
            <a:r>
              <a:t>Bütçe Kısıtı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Füzelerin ve decoy'ların toplam maliyeti operasyonel bütçeyi (B=100) aşamaz.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365760" cy="3657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Segoe UI"/>
              </a:defRPr>
            </a:pPr>
            <a:r>
              <a:t>Uyumluluk Kısıtı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546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Ci,j = 0 ise i. füze j. hedefe fiziksel olarak atılamaz.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65760" cy="36576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Segoe UI"/>
              </a:defRPr>
            </a:pPr>
            <a:r>
              <a:t>Decoy Mantık Kısıtı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Gerçek füze atılmayan hedefe decoy atmak israftır ve cezalandırılır.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83479"/>
            <a:ext cx="36576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Segoe UI"/>
              </a:defRPr>
            </a:pPr>
            <a:r>
              <a:t>Salvo Atış Kısıtı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2577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Aynı hedefe giden füzelerin Tgo farkı ε'dan küçük olmalıdır.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0" y="1828800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Ceza Tipi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Katsayı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Ağırlık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Qj (Fixed Gruplama)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0.1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Hafif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Si (Çoklu Atama)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Hafif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Uj / Lj (Adaptive)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0.1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Hafif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w_heavy (Bütçe, Uyum.)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Ağır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w_light (Salvo, Decoy)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Orta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09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Matematiksel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A1535"/>
          </a:solidFill>
          <a:ln w="12700">
            <a:solidFill>
              <a:srgbClr val="3D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78BFA"/>
                </a:solidFill>
                <a:latin typeface="Consolas"/>
              </a:defRPr>
            </a:pPr>
            <a:r>
              <a:t>AMAÇ FONKSİYONU (Minimize Edilecek)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onsolas"/>
              </a:defRPr>
            </a:pPr>
            <a:r>
              <a:t>min J = Σ Vj × Π (1 − P_succ(i,j) × Xi,j)  +  Penalty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152035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t>Bireysel Başarı Olasılığı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onsolas"/>
              </a:defRPr>
            </a:pPr>
            <a:r>
              <a:t>P_succ(i,j) = P_pen(j) × P_hit(i,j) × P_kill(i,j)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43891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Sembol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Açıklama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Örnek Değer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Vj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j. hedefin önem/tehdit değeri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0.85, 0.72, 0.80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Xi,j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i. füzenin j. hedefe atanması (0/1)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Algoritmaca optimize edilir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P_hit(i,j)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Kinematik vurma olasılığı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0.0 – 1.0 arası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P_kill(i,j)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Vuruşta yok etme olasılığı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0.85 (sabit)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10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MATLAB İmplementasyonu &amp; Genetik Şifreleme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21E35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4D399"/>
                </a:solidFill>
                <a:latin typeface="Consolas"/>
              </a:defRPr>
            </a:pPr>
            <a:r>
              <a:t>ÖRNEK KROMOZOM / PARÇACIK  (15 elemanlı assignment vektörü)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onsolas"/>
              </a:defRPr>
            </a:pPr>
            <a:r>
              <a:t>[ 1   1   0   1   2   0   2   3   3   0  |  2   1   3   1   3 ]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  ← Füze Atamaları (10 adet)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78BFA"/>
                </a:solidFill>
                <a:latin typeface="Consolas"/>
              </a:defRPr>
            </a:pPr>
            <a:r>
              <a:t>← Decoy Atamaları (5 adet) →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5661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Dosya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İşlev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main.m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Parametre tanımlama, algoritma çağrısı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fitness_function.m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20 parametreli amaç fonksiyonu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run_ABC.m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Yapay Arı Kolonisi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run_GENETIC.m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Genetik Algoritma (ÖZGÜN KATKI)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5661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200" b="1">
                <a:solidFill>
                  <a:srgbClr val="F1F5F9"/>
                </a:solidFill>
                <a:latin typeface="Segoe UI"/>
              </a:rPr>
              <a:t>0 → Atanmadı:</a:t>
            </a:r>
            <a:r>
              <a:rPr sz="1200">
                <a:solidFill>
                  <a:srgbClr val="94A3B8"/>
                </a:solidFill>
                <a:latin typeface="Segoe UI"/>
              </a:rPr>
              <a:t> Füze veya decoy hiçbir hedefe gitmez.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200" b="1">
                <a:solidFill>
                  <a:srgbClr val="F1F5F9"/>
                </a:solidFill>
                <a:latin typeface="Segoe UI"/>
              </a:rPr>
              <a:t>1, 2, 3... → Hedef Numarası:</a:t>
            </a:r>
            <a:r>
              <a:rPr sz="1200">
                <a:solidFill>
                  <a:srgbClr val="94A3B8"/>
                </a:solidFill>
                <a:latin typeface="Segoe UI"/>
              </a:rPr>
              <a:t> İlgili birim atanır.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200" b="1">
                <a:solidFill>
                  <a:srgbClr val="F1F5F9"/>
                </a:solidFill>
                <a:latin typeface="Segoe UI"/>
              </a:rPr>
              <a:t>GA Parametreleri:</a:t>
            </a:r>
            <a:r>
              <a:rPr sz="1200">
                <a:solidFill>
                  <a:srgbClr val="94A3B8"/>
                </a:solidFill>
                <a:latin typeface="Segoe UI"/>
              </a:rPr>
              <a:t> Crossover=0.8, Mutation=0.1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200" b="1">
                <a:solidFill>
                  <a:srgbClr val="F1F5F9"/>
                </a:solidFill>
                <a:latin typeface="Segoe UI"/>
              </a:rPr>
              <a:t>PSO Parametreleri:</a:t>
            </a:r>
            <a:r>
              <a:rPr sz="1200">
                <a:solidFill>
                  <a:srgbClr val="94A3B8"/>
                </a:solidFill>
                <a:latin typeface="Segoe UI"/>
              </a:rPr>
              <a:t> Sürekli uzay → floor() ile tamsayılaştırma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11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Algoritmaların Çalışma Mekanizmaları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Kullanılan meta-sezgisel algoritmaların iterasyon adımları ve temel formülleri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0F1E2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🐝 Yapay Arı Kolonisi (ABC)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1. İşçi Arı Fazı:</a:t>
            </a:r>
            <a:r>
              <a:rPr sz="1100">
                <a:solidFill>
                  <a:srgbClr val="94A3B8"/>
                </a:solidFill>
                <a:latin typeface="Segoe UI"/>
              </a:rPr>
              <a:t> Mevcut besinler (çözümler) etrafında komşuluk araması yapar.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2. Gözcü Arı Fazı:</a:t>
            </a:r>
            <a:r>
              <a:rPr sz="1100">
                <a:solidFill>
                  <a:srgbClr val="94A3B8"/>
                </a:solidFill>
                <a:latin typeface="Segoe UI"/>
              </a:rPr>
              <a:t> Rulet tekerleğiyle çözüm seçer ve komşuluk arar.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3. Kaşif Arı Fazı:</a:t>
            </a:r>
            <a:r>
              <a:rPr sz="1100">
                <a:solidFill>
                  <a:srgbClr val="94A3B8"/>
                </a:solidFill>
                <a:latin typeface="Segoe UI"/>
              </a:rPr>
              <a:t> 'Limit' iterasyonunca gelişmeyen çözümü atıp yepyeni çözüm üretir.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Konum Güncelleme: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D3EE"/>
                </a:solidFill>
                <a:latin typeface="Consolas"/>
              </a:defRPr>
            </a:pPr>
            <a:r>
              <a:t>v_ij = x_ij + Φ(x_ij - x_kj)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F1520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B6"/>
                </a:solidFill>
                <a:latin typeface="Segoe UI"/>
              </a:defRPr>
            </a:pPr>
            <a:r>
              <a:t>🌀 Parçacık Sürüsü (PSO)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472B6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1. Hız Güncelleme:</a:t>
            </a:r>
            <a:r>
              <a:rPr sz="1100">
                <a:solidFill>
                  <a:srgbClr val="94A3B8"/>
                </a:solidFill>
                <a:latin typeface="Segoe UI"/>
              </a:rPr>
              <a:t> Parçacık, kendi en iyi konumuna (pbest) ve sürünün en iyi konumuna (gbest) doğru ivmelenir.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472B6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2. Konum Güncelleme:</a:t>
            </a:r>
            <a:r>
              <a:rPr sz="1100">
                <a:solidFill>
                  <a:srgbClr val="94A3B8"/>
                </a:solidFill>
                <a:latin typeface="Segoe UI"/>
              </a:rPr>
              <a:t> Bulunan hız, mevcut konuma eklenerek yeni uzaya geçilir.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472B6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3. Dönüşüm:</a:t>
            </a:r>
            <a:r>
              <a:rPr sz="1100">
                <a:solidFill>
                  <a:srgbClr val="94A3B8"/>
                </a:solidFill>
                <a:latin typeface="Segoe UI"/>
              </a:rPr>
              <a:t> WTA problemi kesikli olduğu için sürekli olan konumlar tabana yuvarlanır (floor).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Hız / Konum Formülleri: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572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472B6"/>
                </a:solidFill>
                <a:latin typeface="Consolas"/>
              </a:defRPr>
            </a:pPr>
            <a:r>
              <a:t>v_i = w·v_i + c1·r1(pbest) + c2·r2(gbest)</a:t>
            </a:r>
            <a:br/>
            <a:r>
              <a:t>x_i = x_i + v_i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2241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D399"/>
                </a:solidFill>
                <a:latin typeface="Segoe UI"/>
              </a:defRPr>
            </a:pPr>
            <a:r>
              <a:t>🧬 Genetik Algoritma (GA)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7744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34D399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1. Seçilim (Tournament):</a:t>
            </a:r>
            <a:r>
              <a:rPr sz="1100">
                <a:solidFill>
                  <a:srgbClr val="94A3B8"/>
                </a:solidFill>
                <a:latin typeface="Segoe UI"/>
              </a:rPr>
              <a:t> Rastgele seçilen bireylerden fitness'ı en iyi olan ebeveyn olarak kalır.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34D399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2. Çaprazlama (Crossover):</a:t>
            </a:r>
            <a:r>
              <a:rPr sz="1100">
                <a:solidFill>
                  <a:srgbClr val="94A3B8"/>
                </a:solidFill>
                <a:latin typeface="Segoe UI"/>
              </a:rPr>
              <a:t> Seçilen iki ebeveynin atama vektörleri belli bir noktadan kesilip çocuk oluşturulur.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34D399"/>
                </a:solidFill>
              </a:rPr>
              <a:t>●  </a:t>
            </a:r>
            <a:r>
              <a:rPr sz="1100" b="1">
                <a:solidFill>
                  <a:srgbClr val="F1F5F9"/>
                </a:solidFill>
                <a:latin typeface="Segoe UI"/>
              </a:rPr>
              <a:t>3. Mutasyon:</a:t>
            </a:r>
            <a:r>
              <a:rPr sz="1100">
                <a:solidFill>
                  <a:srgbClr val="94A3B8"/>
                </a:solidFill>
                <a:latin typeface="Segoe UI"/>
              </a:rPr>
              <a:t> Lokal minimumdan kaçmak için çocukların bazı atamaları rastgele değiştirilir.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Crossover Örneği (p_c=0.8):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572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D399"/>
                </a:solidFill>
                <a:latin typeface="Consolas"/>
              </a:defRPr>
            </a:pPr>
            <a:r>
              <a:t>P1: [1 1 | 2 3] </a:t>
            </a:r>
            <a:br/>
            <a:r>
              <a:t>P2: [0 4 | 5 5] </a:t>
            </a:r>
            <a:br/>
            <a:r>
              <a:t>Child: [1 1 | 5 5]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12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Sayısal Sonuçlar (Atak Modeli) — Case 1 (3 Hedef)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01952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FIXED GRUPLAMA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1.1610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1.1610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1.3549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Lokal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2121408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ADAPTİF GRUPLAMA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29768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0.8610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0.8610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1.0263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Lokal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182880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Figure 1: Case 1 Fixed Grafiği</a:t>
            </a:r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t>Görseli buraya yerleştirin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11480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Figure 2: Case 1 Adaptive Grafiği</a:t>
            </a:r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t>Görseli buraya yerleştirin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13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Sayısal Sonuçlar (Atak Modeli) — Case 2 (5 Hedef)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01952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FIXED GRUPLAMA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2.8422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2.8422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3.2450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Lokal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2121408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ADAPTİF GRUPLAMA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29768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Durum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2.5720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OPTİMUM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2.5720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OPTİMUM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2.8867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Lokal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182880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Figure 3: Case 2 Fixed Grafiği</a:t>
            </a:r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t>Görseli buraya yerleştirin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11480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Figure 4: Case 2 Adaptive Grafiği</a:t>
            </a:r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t>Görseli buraya yerleştirin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14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Tüm Sonuçların Özeti ve Performans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Atak Senaryosu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Gruplama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ABC 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GA 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PSO Maliyet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PSO Farkı (%)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Case 1 (3 Hedef)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1.1610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1.1610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1.3549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+16.7%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Case 1 (3 Hedef)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Adaptive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0.8610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0.8610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1.0263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+19.2%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Case 2 (5 Hedef)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2.8422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2.8422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3.2450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+14.1%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Case 2 (5 Hedef)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Adaptive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2.5720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2.5720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2.8867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+12.2%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023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0F251E"/>
          </a:solidFill>
          <a:ln w="12700">
            <a:solidFill>
              <a:srgbClr val="1E5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✅ GA ve ABC'nin Üstünlüğü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GA'nın Crossover ve Mutasyon operatörleri, PSO'nun düştüğü lokal minimum tuzaklarından çıkılmasını sağladı. Hem Savunma hem de Atak senaryolarında eşsiz optimumu buldular.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Figure 5/6: Süre ve Hız Grafiği</a:t>
            </a:r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t>Görseli buraya yerleştirin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15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t>Gelecek Çalışmalar (Future Works)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Sistemin daha gerçekçi harp ortamlarına evrilmesi için atılabilecek adımlar: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🚀 3 Eksenli (3D) Angajman Modeli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Şu anki model hedefleri 2 boyutlu (x-y) düzlemde ele alıyor.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Füze ve hedeflerin irtifa (z) ekseninin de denkleme katılması.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Pitch ve Yaw açılarının radarı ve görüş hattını (Line of Sight) nasıl etkilediğinin modellenmesi.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22D3EE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Arazinin (terrain) ve radar ufkunun (radar horizon) hesaba katılması.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923C"/>
                </a:solidFill>
                <a:latin typeface="Segoe UI"/>
              </a:defRPr>
            </a:pPr>
            <a:r>
              <a:t>🎯 Dinamik (Hareketli) Hedef Angajmanı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B923C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Hedeflerin sabit rotalarda gitmediği, sürekli manevra yaptığı durumların modellenmesi.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B923C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Atama yapıldıktan sonra hedefin kaçış manevrası (evasive maneuver) yapması durumunda algoritmanın uçuş sırasında yeniden (real-time) atama yapması.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800">
                <a:solidFill>
                  <a:srgbClr val="FB923C"/>
                </a:solidFill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Bunun için algoritmanın süresinin mili-saniye seviyelerine (GPU paralelizasyonu vb.) çekilmesi.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16 / 16</a:t>
            </a:r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A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1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0"/>
              </a:spcAft>
              <a:defRPr sz="4800" b="1">
                <a:solidFill>
                  <a:srgbClr val="3B82F6"/>
                </a:solidFill>
                <a:latin typeface="Segoe UI"/>
              </a:defRPr>
            </a:pPr>
            <a:r>
              <a:t>Teşekkürler</a:t>
            </a:r>
          </a:p>
          <a:p>
            <a:pPr algn="ctr">
              <a:spcBef>
                <a:spcPts val="0"/>
              </a:spcBef>
              <a:spcAft>
                <a:spcPts val="30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Sorularınız?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418320" cy="2011680"/>
          </a:xfrm>
          <a:prstGeom prst="roundRect">
            <a:avLst>
              <a:gd name="adj" fmla="val 5000"/>
            </a:avLst>
          </a:prstGeom>
          <a:solidFill>
            <a:srgbClr val="121E30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PROJE ÖZETİ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Makaledeki savunma modeli doğrulanmış; ardından decoy içeren, bütçe kısıtlı ve Genetik Algoritma destekli kompleks bir saldırı optimizasyon modeline genişletilmiştir. GA ve ABC, PSO'ya tüm senaryolarda üstünlük sağlamıştır.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4864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t>0.86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5943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EN İYI ATAK MALIYETI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4864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943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ALGORITMA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4864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A78BF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943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KISIT TÜRÜ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54864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B923C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5943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t>MATLAB DOSYASI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28CE54B2-9165-48EC-83AC-8C503BF5826F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</TotalTime>
  <Words>2468</Words>
  <Application>Microsoft Office PowerPoint</Application>
  <PresentationFormat>Widescreen</PresentationFormat>
  <Paragraphs>518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Resul Dursun (Tusaş - Türk Havacılık Ve Uzay Sanayi A.ş.)</dc:creator>
  <cp:keywords/>
  <dc:description>generated using python-pptx</dc:description>
  <cp:lastModifiedBy>Resul Dursun (Tusaş - Türk Havacılık Ve Uzay Sanayi A.ş.)</cp:lastModifiedBy>
  <cp:revision>25</cp:revision>
  <dcterms:created xsi:type="dcterms:W3CDTF">2013-01-27T09:14:16Z</dcterms:created>
  <dcterms:modified xsi:type="dcterms:W3CDTF">2026-07-14T13:47:31Z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eceb1255-8cfd-4288-b0ca-36d99f950830</vt:lpwstr>
  </property>
  <property fmtid="{D5CDD505-2E9C-101B-9397-08002B2CF9AE}" pid="3" name="bjClsUserRVM">
    <vt:lpwstr>[]</vt:lpwstr>
  </property>
  <property fmtid="{D5CDD505-2E9C-101B-9397-08002B2CF9AE}" pid="4" name="bjSaver">
    <vt:lpwstr>nAoW2D1JYLA+bEUF8tJJIpCQJWROCHsn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